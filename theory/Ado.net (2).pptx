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24" r:id="rId2"/>
  </p:sldMasterIdLst>
  <p:notesMasterIdLst>
    <p:notesMasterId r:id="rId74"/>
  </p:notesMasterIdLst>
  <p:sldIdLst>
    <p:sldId id="293" r:id="rId3"/>
    <p:sldId id="336" r:id="rId4"/>
    <p:sldId id="256" r:id="rId5"/>
    <p:sldId id="257" r:id="rId6"/>
    <p:sldId id="337" r:id="rId7"/>
    <p:sldId id="258" r:id="rId8"/>
    <p:sldId id="299" r:id="rId9"/>
    <p:sldId id="300" r:id="rId10"/>
    <p:sldId id="316" r:id="rId11"/>
    <p:sldId id="260" r:id="rId12"/>
    <p:sldId id="292" r:id="rId13"/>
    <p:sldId id="261" r:id="rId14"/>
    <p:sldId id="302" r:id="rId15"/>
    <p:sldId id="263" r:id="rId16"/>
    <p:sldId id="294" r:id="rId17"/>
    <p:sldId id="320" r:id="rId18"/>
    <p:sldId id="265" r:id="rId19"/>
    <p:sldId id="321" r:id="rId20"/>
    <p:sldId id="267" r:id="rId21"/>
    <p:sldId id="322" r:id="rId22"/>
    <p:sldId id="268" r:id="rId23"/>
    <p:sldId id="323" r:id="rId24"/>
    <p:sldId id="325" r:id="rId25"/>
    <p:sldId id="324" r:id="rId26"/>
    <p:sldId id="317" r:id="rId27"/>
    <p:sldId id="272" r:id="rId28"/>
    <p:sldId id="274" r:id="rId29"/>
    <p:sldId id="276" r:id="rId30"/>
    <p:sldId id="277" r:id="rId31"/>
    <p:sldId id="280" r:id="rId32"/>
    <p:sldId id="279" r:id="rId33"/>
    <p:sldId id="281" r:id="rId34"/>
    <p:sldId id="282" r:id="rId35"/>
    <p:sldId id="295" r:id="rId36"/>
    <p:sldId id="296" r:id="rId37"/>
    <p:sldId id="297" r:id="rId38"/>
    <p:sldId id="338" r:id="rId39"/>
    <p:sldId id="339" r:id="rId40"/>
    <p:sldId id="340" r:id="rId41"/>
    <p:sldId id="341" r:id="rId42"/>
    <p:sldId id="284" r:id="rId43"/>
    <p:sldId id="298" r:id="rId44"/>
    <p:sldId id="285" r:id="rId45"/>
    <p:sldId id="318" r:id="rId46"/>
    <p:sldId id="301" r:id="rId47"/>
    <p:sldId id="303" r:id="rId48"/>
    <p:sldId id="286" r:id="rId49"/>
    <p:sldId id="288" r:id="rId50"/>
    <p:sldId id="319" r:id="rId51"/>
    <p:sldId id="304" r:id="rId52"/>
    <p:sldId id="332" r:id="rId53"/>
    <p:sldId id="305" r:id="rId54"/>
    <p:sldId id="309" r:id="rId55"/>
    <p:sldId id="306" r:id="rId56"/>
    <p:sldId id="313" r:id="rId57"/>
    <p:sldId id="310" r:id="rId58"/>
    <p:sldId id="307" r:id="rId59"/>
    <p:sldId id="314" r:id="rId60"/>
    <p:sldId id="315" r:id="rId61"/>
    <p:sldId id="308" r:id="rId62"/>
    <p:sldId id="312" r:id="rId63"/>
    <p:sldId id="333" r:id="rId64"/>
    <p:sldId id="326" r:id="rId65"/>
    <p:sldId id="342" r:id="rId66"/>
    <p:sldId id="327" r:id="rId67"/>
    <p:sldId id="328" r:id="rId68"/>
    <p:sldId id="335" r:id="rId69"/>
    <p:sldId id="334" r:id="rId70"/>
    <p:sldId id="330" r:id="rId71"/>
    <p:sldId id="331" r:id="rId72"/>
    <p:sldId id="329" r:id="rId7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DE"/>
    <a:srgbClr val="5A7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02" autoAdjust="0"/>
    <p:restoredTop sz="94140" autoAdjust="0"/>
  </p:normalViewPr>
  <p:slideViewPr>
    <p:cSldViewPr>
      <p:cViewPr varScale="1">
        <p:scale>
          <a:sx n="104" d="100"/>
          <a:sy n="104" d="100"/>
        </p:scale>
        <p:origin x="184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B485B7-FB5A-418C-A8F0-626E703CDA00}" type="doc">
      <dgm:prSet loTypeId="urn:microsoft.com/office/officeart/2005/8/layout/vList2" loCatId="list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ru-RU"/>
        </a:p>
      </dgm:t>
    </dgm:pt>
    <dgm:pt modelId="{29107C4F-D3F8-41E8-8458-133B5C40DCB9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>
              <a:latin typeface="Arial" pitchFamily="34" charset="0"/>
              <a:cs typeface="Arial" pitchFamily="34" charset="0"/>
            </a:rPr>
            <a:t>Классы доступа к данным</a:t>
          </a:r>
        </a:p>
      </dgm:t>
    </dgm:pt>
    <dgm:pt modelId="{770A38FD-3C26-46F2-9DE2-94979F7A64D7}" type="parTrans" cxnId="{593D358D-400C-4608-9B42-3928FA96AC38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0341AA11-B7C9-4CB3-AA10-805ED479035E}" type="sibTrans" cxnId="{593D358D-400C-4608-9B42-3928FA96AC38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89D84BB4-20C8-4A50-9EC9-3ECDF34863C5}">
      <dgm:prSet phldrT="[Текст]" custT="1"/>
      <dgm:spPr/>
      <dgm:t>
        <a:bodyPr/>
        <a:lstStyle/>
        <a:p>
          <a:r>
            <a:rPr lang="en-US" sz="2400" dirty="0">
              <a:latin typeface="Arial" pitchFamily="34" charset="0"/>
              <a:cs typeface="Arial" pitchFamily="34" charset="0"/>
            </a:rPr>
            <a:t>Connection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78ABEB7A-2C84-4F63-805D-64069E4D9096}" type="parTrans" cxnId="{D02AFBAC-036C-4CF2-91DC-39EB743D3DD8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FB4CBD53-CDB4-45D9-9286-2CAC8E385037}" type="sibTrans" cxnId="{D02AFBAC-036C-4CF2-91DC-39EB743D3DD8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2A3E70CD-7CFB-410C-807A-E5CC7AC27553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>
              <a:latin typeface="Arial" pitchFamily="34" charset="0"/>
              <a:cs typeface="Arial" pitchFamily="34" charset="0"/>
            </a:rPr>
            <a:t>Классы для автономной обработки данных</a:t>
          </a:r>
        </a:p>
      </dgm:t>
    </dgm:pt>
    <dgm:pt modelId="{B20C01F0-F922-47B4-B703-27BE94C5C45A}" type="parTrans" cxnId="{F8CC78D1-2E6F-482D-9AC4-CC515656276B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F137883C-F648-4926-A1E6-85803FBB1AED}" type="sibTrans" cxnId="{F8CC78D1-2E6F-482D-9AC4-CC515656276B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004C5477-5D89-4A42-B417-FE99D7C79FB0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DataSet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0C32AB7F-167E-4FBE-BF01-1B29FB8C77FF}" type="parTrans" cxnId="{94B65129-5C54-4137-9043-E431BD79A961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A83319AE-833D-48B2-AE60-9AEAE08122DB}" type="sibTrans" cxnId="{94B65129-5C54-4137-9043-E431BD79A961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2BE5F2E9-445E-441D-9699-739123F3E98F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DataReader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FD8EDB63-B847-4221-B24C-774409A7364F}" type="parTrans" cxnId="{44A5EE48-C35D-4132-86CC-0096C376BA0A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8BE34D5B-8FFB-4817-8FCC-2C78A61E23F2}" type="sibTrans" cxnId="{44A5EE48-C35D-4132-86CC-0096C376BA0A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A2CD4CEA-DBA4-4DE4-A9CC-407A26C5ECB0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DataAdapter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A7FF40F8-A50E-4700-91C0-AF3328737039}" type="parTrans" cxnId="{8962F5C1-C6D1-4FC9-9390-A75D96B5E2A7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F9C773EB-E406-4377-A223-4FA8BC472624}" type="sibTrans" cxnId="{8962F5C1-C6D1-4FC9-9390-A75D96B5E2A7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76EFEE1A-C057-4308-A0D0-B56BE7242503}">
      <dgm:prSet phldrT="[Текст]" custT="1"/>
      <dgm:spPr/>
      <dgm:t>
        <a:bodyPr/>
        <a:lstStyle/>
        <a:p>
          <a:r>
            <a:rPr lang="en-US" sz="2400" dirty="0">
              <a:latin typeface="Arial" pitchFamily="34" charset="0"/>
              <a:cs typeface="Arial" pitchFamily="34" charset="0"/>
            </a:rPr>
            <a:t>Command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09A0A482-B04B-43F3-AA4C-7D859FE732A7}" type="parTrans" cxnId="{CA2DF07E-8989-43AD-8F45-AF759D6EA6C5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C47837E9-BAD0-4243-AC8B-D537409C18AD}" type="sibTrans" cxnId="{CA2DF07E-8989-43AD-8F45-AF759D6EA6C5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91994968-D171-4508-A18C-6D17DD000B89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DataTable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B1623581-4783-4F85-9DC4-C970375E8049}" type="parTrans" cxnId="{0E82E66B-96AF-4A7D-B4C6-76E2232033FA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EFF22176-E503-49AA-A962-299F184ACE30}" type="sibTrans" cxnId="{0E82E66B-96AF-4A7D-B4C6-76E2232033FA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71109464-5007-408D-91D0-A89AE171F354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DataColumn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773F21A5-F773-4BF1-B661-D6137C621CF6}" type="parTrans" cxnId="{8E46E2C6-2C23-4379-85F4-0124ACCD45DB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6BEB2E55-48B4-4420-A5D2-99D3EF25C89C}" type="sibTrans" cxnId="{8E46E2C6-2C23-4379-85F4-0124ACCD45DB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96AB6D60-9F68-49EC-A4E0-03C7642DB004}">
      <dgm:prSet phldrT="[Текст]" custT="1"/>
      <dgm:spPr/>
      <dgm:t>
        <a:bodyPr/>
        <a:lstStyle/>
        <a:p>
          <a:r>
            <a:rPr lang="en-US" sz="2400" dirty="0">
              <a:latin typeface="Arial" pitchFamily="34" charset="0"/>
              <a:cs typeface="Arial" pitchFamily="34" charset="0"/>
            </a:rPr>
            <a:t>etc.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F778146B-E616-4AEF-A45B-B173568A228E}" type="parTrans" cxnId="{0961C99A-3D5D-423C-AF43-7530DCBCBF60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9746779C-A487-46EE-BB9E-0EFCC8BEE4F3}" type="sibTrans" cxnId="{0961C99A-3D5D-423C-AF43-7530DCBCBF60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134CC820-7FE1-400B-A991-275E75D42523}">
      <dgm:prSet phldrT="[Текст]" custT="1"/>
      <dgm:spPr/>
      <dgm:t>
        <a:bodyPr/>
        <a:lstStyle/>
        <a:p>
          <a:r>
            <a:rPr lang="en-US" sz="2400" dirty="0" err="1">
              <a:latin typeface="Arial" pitchFamily="34" charset="0"/>
              <a:cs typeface="Arial" pitchFamily="34" charset="0"/>
            </a:rPr>
            <a:t>DataRelation</a:t>
          </a:r>
          <a:endParaRPr lang="ru-RU" sz="2400" dirty="0">
            <a:latin typeface="Arial" pitchFamily="34" charset="0"/>
            <a:cs typeface="Arial" pitchFamily="34" charset="0"/>
          </a:endParaRPr>
        </a:p>
      </dgm:t>
    </dgm:pt>
    <dgm:pt modelId="{9366AA0B-46EA-45D3-97A5-6F0B30CAFAAD}" type="parTrans" cxnId="{69212D2B-A666-4808-85B2-B06D79D5259F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BEC837D1-EF03-43F8-B80B-04C9D628570C}" type="sibTrans" cxnId="{69212D2B-A666-4808-85B2-B06D79D5259F}">
      <dgm:prSet/>
      <dgm:spPr/>
      <dgm:t>
        <a:bodyPr/>
        <a:lstStyle/>
        <a:p>
          <a:endParaRPr lang="ru-RU" sz="2000">
            <a:latin typeface="Arial" pitchFamily="34" charset="0"/>
            <a:cs typeface="Arial" pitchFamily="34" charset="0"/>
          </a:endParaRPr>
        </a:p>
      </dgm:t>
    </dgm:pt>
    <dgm:pt modelId="{D8EBBA94-D25D-4240-8C1B-FBB568D21C0D}" type="pres">
      <dgm:prSet presAssocID="{A2B485B7-FB5A-418C-A8F0-626E703CDA00}" presName="linear" presStyleCnt="0">
        <dgm:presLayoutVars>
          <dgm:animLvl val="lvl"/>
          <dgm:resizeHandles val="exact"/>
        </dgm:presLayoutVars>
      </dgm:prSet>
      <dgm:spPr/>
    </dgm:pt>
    <dgm:pt modelId="{91B6FC1D-FBDA-4D24-8F08-0B4A86CEDE52}" type="pres">
      <dgm:prSet presAssocID="{29107C4F-D3F8-41E8-8458-133B5C40DCB9}" presName="parentText" presStyleLbl="node1" presStyleIdx="0" presStyleCnt="2" custScaleY="39403" custLinFactNeighborX="1859" custLinFactNeighborY="-46878">
        <dgm:presLayoutVars>
          <dgm:chMax val="0"/>
          <dgm:bulletEnabled val="1"/>
        </dgm:presLayoutVars>
      </dgm:prSet>
      <dgm:spPr/>
    </dgm:pt>
    <dgm:pt modelId="{1EFDC26C-34C9-46C0-BBEA-80E8E222B689}" type="pres">
      <dgm:prSet presAssocID="{29107C4F-D3F8-41E8-8458-133B5C40DCB9}" presName="childText" presStyleLbl="revTx" presStyleIdx="0" presStyleCnt="2" custLinFactNeighborY="-13955">
        <dgm:presLayoutVars>
          <dgm:bulletEnabled val="1"/>
        </dgm:presLayoutVars>
      </dgm:prSet>
      <dgm:spPr/>
    </dgm:pt>
    <dgm:pt modelId="{55B9FDCB-DA12-41D9-824C-E36E85FCBE18}" type="pres">
      <dgm:prSet presAssocID="{2A3E70CD-7CFB-410C-807A-E5CC7AC27553}" presName="parentText" presStyleLbl="node1" presStyleIdx="1" presStyleCnt="2" custScaleY="40453" custLinFactNeighborY="-1544">
        <dgm:presLayoutVars>
          <dgm:chMax val="0"/>
          <dgm:bulletEnabled val="1"/>
        </dgm:presLayoutVars>
      </dgm:prSet>
      <dgm:spPr/>
    </dgm:pt>
    <dgm:pt modelId="{067E532B-B9E8-45DE-B0A0-0563FA95F5E2}" type="pres">
      <dgm:prSet presAssocID="{2A3E70CD-7CFB-410C-807A-E5CC7AC27553}" presName="childText" presStyleLbl="revTx" presStyleIdx="1" presStyleCnt="2" custLinFactNeighborX="-399" custLinFactNeighborY="6810">
        <dgm:presLayoutVars>
          <dgm:bulletEnabled val="1"/>
        </dgm:presLayoutVars>
      </dgm:prSet>
      <dgm:spPr/>
    </dgm:pt>
  </dgm:ptLst>
  <dgm:cxnLst>
    <dgm:cxn modelId="{36246B05-6A1A-4F01-A276-3D65BCFB41E5}" type="presOf" srcId="{2A3E70CD-7CFB-410C-807A-E5CC7AC27553}" destId="{55B9FDCB-DA12-41D9-824C-E36E85FCBE18}" srcOrd="0" destOrd="0" presId="urn:microsoft.com/office/officeart/2005/8/layout/vList2"/>
    <dgm:cxn modelId="{F31E9A11-5B67-48C9-896A-A664744C4516}" type="presOf" srcId="{96AB6D60-9F68-49EC-A4E0-03C7642DB004}" destId="{067E532B-B9E8-45DE-B0A0-0563FA95F5E2}" srcOrd="0" destOrd="4" presId="urn:microsoft.com/office/officeart/2005/8/layout/vList2"/>
    <dgm:cxn modelId="{94B65129-5C54-4137-9043-E431BD79A961}" srcId="{2A3E70CD-7CFB-410C-807A-E5CC7AC27553}" destId="{004C5477-5D89-4A42-B417-FE99D7C79FB0}" srcOrd="0" destOrd="0" parTransId="{0C32AB7F-167E-4FBE-BF01-1B29FB8C77FF}" sibTransId="{A83319AE-833D-48B2-AE60-9AEAE08122DB}"/>
    <dgm:cxn modelId="{69212D2B-A666-4808-85B2-B06D79D5259F}" srcId="{2A3E70CD-7CFB-410C-807A-E5CC7AC27553}" destId="{134CC820-7FE1-400B-A991-275E75D42523}" srcOrd="3" destOrd="0" parTransId="{9366AA0B-46EA-45D3-97A5-6F0B30CAFAAD}" sibTransId="{BEC837D1-EF03-43F8-B80B-04C9D628570C}"/>
    <dgm:cxn modelId="{DB47F835-33BD-469D-AEE7-A19AB222FFDD}" type="presOf" srcId="{004C5477-5D89-4A42-B417-FE99D7C79FB0}" destId="{067E532B-B9E8-45DE-B0A0-0563FA95F5E2}" srcOrd="0" destOrd="0" presId="urn:microsoft.com/office/officeart/2005/8/layout/vList2"/>
    <dgm:cxn modelId="{44A5EE48-C35D-4132-86CC-0096C376BA0A}" srcId="{29107C4F-D3F8-41E8-8458-133B5C40DCB9}" destId="{2BE5F2E9-445E-441D-9699-739123F3E98F}" srcOrd="2" destOrd="0" parTransId="{FD8EDB63-B847-4221-B24C-774409A7364F}" sibTransId="{8BE34D5B-8FFB-4817-8FCC-2C78A61E23F2}"/>
    <dgm:cxn modelId="{1D6CD84B-FE43-446C-B0AA-677A7E716361}" type="presOf" srcId="{76EFEE1A-C057-4308-A0D0-B56BE7242503}" destId="{1EFDC26C-34C9-46C0-BBEA-80E8E222B689}" srcOrd="0" destOrd="1" presId="urn:microsoft.com/office/officeart/2005/8/layout/vList2"/>
    <dgm:cxn modelId="{0E82E66B-96AF-4A7D-B4C6-76E2232033FA}" srcId="{2A3E70CD-7CFB-410C-807A-E5CC7AC27553}" destId="{91994968-D171-4508-A18C-6D17DD000B89}" srcOrd="1" destOrd="0" parTransId="{B1623581-4783-4F85-9DC4-C970375E8049}" sibTransId="{EFF22176-E503-49AA-A962-299F184ACE30}"/>
    <dgm:cxn modelId="{C6F08D6D-6DD4-4DD3-93E8-96F18FFCDC74}" type="presOf" srcId="{2BE5F2E9-445E-441D-9699-739123F3E98F}" destId="{1EFDC26C-34C9-46C0-BBEA-80E8E222B689}" srcOrd="0" destOrd="2" presId="urn:microsoft.com/office/officeart/2005/8/layout/vList2"/>
    <dgm:cxn modelId="{42A80A7D-2533-46A5-A466-C12BE60C7B8F}" type="presOf" srcId="{71109464-5007-408D-91D0-A89AE171F354}" destId="{067E532B-B9E8-45DE-B0A0-0563FA95F5E2}" srcOrd="0" destOrd="2" presId="urn:microsoft.com/office/officeart/2005/8/layout/vList2"/>
    <dgm:cxn modelId="{CA2DF07E-8989-43AD-8F45-AF759D6EA6C5}" srcId="{29107C4F-D3F8-41E8-8458-133B5C40DCB9}" destId="{76EFEE1A-C057-4308-A0D0-B56BE7242503}" srcOrd="1" destOrd="0" parTransId="{09A0A482-B04B-43F3-AA4C-7D859FE732A7}" sibTransId="{C47837E9-BAD0-4243-AC8B-D537409C18AD}"/>
    <dgm:cxn modelId="{349C5A86-2808-49FD-A04E-528DEC95BC0F}" type="presOf" srcId="{91994968-D171-4508-A18C-6D17DD000B89}" destId="{067E532B-B9E8-45DE-B0A0-0563FA95F5E2}" srcOrd="0" destOrd="1" presId="urn:microsoft.com/office/officeart/2005/8/layout/vList2"/>
    <dgm:cxn modelId="{593D358D-400C-4608-9B42-3928FA96AC38}" srcId="{A2B485B7-FB5A-418C-A8F0-626E703CDA00}" destId="{29107C4F-D3F8-41E8-8458-133B5C40DCB9}" srcOrd="0" destOrd="0" parTransId="{770A38FD-3C26-46F2-9DE2-94979F7A64D7}" sibTransId="{0341AA11-B7C9-4CB3-AA10-805ED479035E}"/>
    <dgm:cxn modelId="{0961C99A-3D5D-423C-AF43-7530DCBCBF60}" srcId="{2A3E70CD-7CFB-410C-807A-E5CC7AC27553}" destId="{96AB6D60-9F68-49EC-A4E0-03C7642DB004}" srcOrd="4" destOrd="0" parTransId="{F778146B-E616-4AEF-A45B-B173568A228E}" sibTransId="{9746779C-A487-46EE-BB9E-0EFCC8BEE4F3}"/>
    <dgm:cxn modelId="{DD8A04A7-6A7D-490A-BCE7-E9E1D0C31079}" type="presOf" srcId="{134CC820-7FE1-400B-A991-275E75D42523}" destId="{067E532B-B9E8-45DE-B0A0-0563FA95F5E2}" srcOrd="0" destOrd="3" presId="urn:microsoft.com/office/officeart/2005/8/layout/vList2"/>
    <dgm:cxn modelId="{D02AFBAC-036C-4CF2-91DC-39EB743D3DD8}" srcId="{29107C4F-D3F8-41E8-8458-133B5C40DCB9}" destId="{89D84BB4-20C8-4A50-9EC9-3ECDF34863C5}" srcOrd="0" destOrd="0" parTransId="{78ABEB7A-2C84-4F63-805D-64069E4D9096}" sibTransId="{FB4CBD53-CDB4-45D9-9286-2CAC8E385037}"/>
    <dgm:cxn modelId="{9795E6C1-F523-4FB2-9F0B-F3B010C6038A}" type="presOf" srcId="{A2CD4CEA-DBA4-4DE4-A9CC-407A26C5ECB0}" destId="{1EFDC26C-34C9-46C0-BBEA-80E8E222B689}" srcOrd="0" destOrd="3" presId="urn:microsoft.com/office/officeart/2005/8/layout/vList2"/>
    <dgm:cxn modelId="{8962F5C1-C6D1-4FC9-9390-A75D96B5E2A7}" srcId="{29107C4F-D3F8-41E8-8458-133B5C40DCB9}" destId="{A2CD4CEA-DBA4-4DE4-A9CC-407A26C5ECB0}" srcOrd="3" destOrd="0" parTransId="{A7FF40F8-A50E-4700-91C0-AF3328737039}" sibTransId="{F9C773EB-E406-4377-A223-4FA8BC472624}"/>
    <dgm:cxn modelId="{8E46E2C6-2C23-4379-85F4-0124ACCD45DB}" srcId="{2A3E70CD-7CFB-410C-807A-E5CC7AC27553}" destId="{71109464-5007-408D-91D0-A89AE171F354}" srcOrd="2" destOrd="0" parTransId="{773F21A5-F773-4BF1-B661-D6137C621CF6}" sibTransId="{6BEB2E55-48B4-4420-A5D2-99D3EF25C89C}"/>
    <dgm:cxn modelId="{F8CC78D1-2E6F-482D-9AC4-CC515656276B}" srcId="{A2B485B7-FB5A-418C-A8F0-626E703CDA00}" destId="{2A3E70CD-7CFB-410C-807A-E5CC7AC27553}" srcOrd="1" destOrd="0" parTransId="{B20C01F0-F922-47B4-B703-27BE94C5C45A}" sibTransId="{F137883C-F648-4926-A1E6-85803FBB1AED}"/>
    <dgm:cxn modelId="{A023E4D7-A69B-4ED6-8FC5-A387DFD61E04}" type="presOf" srcId="{89D84BB4-20C8-4A50-9EC9-3ECDF34863C5}" destId="{1EFDC26C-34C9-46C0-BBEA-80E8E222B689}" srcOrd="0" destOrd="0" presId="urn:microsoft.com/office/officeart/2005/8/layout/vList2"/>
    <dgm:cxn modelId="{89F97BF8-83B6-4A53-B96F-1AEE47D7D89E}" type="presOf" srcId="{29107C4F-D3F8-41E8-8458-133B5C40DCB9}" destId="{91B6FC1D-FBDA-4D24-8F08-0B4A86CEDE52}" srcOrd="0" destOrd="0" presId="urn:microsoft.com/office/officeart/2005/8/layout/vList2"/>
    <dgm:cxn modelId="{ED1400F9-81F4-44A2-9C1E-9315A3389E44}" type="presOf" srcId="{A2B485B7-FB5A-418C-A8F0-626E703CDA00}" destId="{D8EBBA94-D25D-4240-8C1B-FBB568D21C0D}" srcOrd="0" destOrd="0" presId="urn:microsoft.com/office/officeart/2005/8/layout/vList2"/>
    <dgm:cxn modelId="{2A4F9C68-60E0-4CBC-86A5-0BF8674370D8}" type="presParOf" srcId="{D8EBBA94-D25D-4240-8C1B-FBB568D21C0D}" destId="{91B6FC1D-FBDA-4D24-8F08-0B4A86CEDE52}" srcOrd="0" destOrd="0" presId="urn:microsoft.com/office/officeart/2005/8/layout/vList2"/>
    <dgm:cxn modelId="{A8F462C3-F695-42C4-B9D9-C21486B43F2A}" type="presParOf" srcId="{D8EBBA94-D25D-4240-8C1B-FBB568D21C0D}" destId="{1EFDC26C-34C9-46C0-BBEA-80E8E222B689}" srcOrd="1" destOrd="0" presId="urn:microsoft.com/office/officeart/2005/8/layout/vList2"/>
    <dgm:cxn modelId="{098BCC5D-64CA-4CA8-888E-13D4DBE591DA}" type="presParOf" srcId="{D8EBBA94-D25D-4240-8C1B-FBB568D21C0D}" destId="{55B9FDCB-DA12-41D9-824C-E36E85FCBE18}" srcOrd="2" destOrd="0" presId="urn:microsoft.com/office/officeart/2005/8/layout/vList2"/>
    <dgm:cxn modelId="{988B2C52-5A24-44FE-A756-7EE264030EF0}" type="presParOf" srcId="{D8EBBA94-D25D-4240-8C1B-FBB568D21C0D}" destId="{067E532B-B9E8-45DE-B0A0-0563FA95F5E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6FC1D-FBDA-4D24-8F08-0B4A86CEDE52}">
      <dsp:nvSpPr>
        <dsp:cNvPr id="0" name=""/>
        <dsp:cNvSpPr/>
      </dsp:nvSpPr>
      <dsp:spPr>
        <a:xfrm>
          <a:off x="0" y="0"/>
          <a:ext cx="7675761" cy="472079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Arial" pitchFamily="34" charset="0"/>
              <a:cs typeface="Arial" pitchFamily="34" charset="0"/>
            </a:rPr>
            <a:t>Классы доступа к данным</a:t>
          </a:r>
        </a:p>
      </dsp:txBody>
      <dsp:txXfrm>
        <a:off x="23045" y="23045"/>
        <a:ext cx="7629671" cy="425989"/>
      </dsp:txXfrm>
    </dsp:sp>
    <dsp:sp modelId="{1EFDC26C-34C9-46C0-BBEA-80E8E222B689}">
      <dsp:nvSpPr>
        <dsp:cNvPr id="0" name=""/>
        <dsp:cNvSpPr/>
      </dsp:nvSpPr>
      <dsp:spPr>
        <a:xfrm>
          <a:off x="0" y="788067"/>
          <a:ext cx="7675761" cy="155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70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Connection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Command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DataReader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DataAdapter</a:t>
          </a:r>
          <a:endParaRPr lang="ru-RU" sz="2400" kern="1200" dirty="0">
            <a:latin typeface="Arial" pitchFamily="34" charset="0"/>
            <a:cs typeface="Arial" pitchFamily="34" charset="0"/>
          </a:endParaRPr>
        </a:p>
      </dsp:txBody>
      <dsp:txXfrm>
        <a:off x="0" y="788067"/>
        <a:ext cx="7675761" cy="1556640"/>
      </dsp:txXfrm>
    </dsp:sp>
    <dsp:sp modelId="{55B9FDCB-DA12-41D9-824C-E36E85FCBE18}">
      <dsp:nvSpPr>
        <dsp:cNvPr id="0" name=""/>
        <dsp:cNvSpPr/>
      </dsp:nvSpPr>
      <dsp:spPr>
        <a:xfrm>
          <a:off x="0" y="2482239"/>
          <a:ext cx="7675761" cy="484659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Arial" pitchFamily="34" charset="0"/>
              <a:cs typeface="Arial" pitchFamily="34" charset="0"/>
            </a:rPr>
            <a:t>Классы для автономной обработки данных</a:t>
          </a:r>
        </a:p>
      </dsp:txBody>
      <dsp:txXfrm>
        <a:off x="23659" y="2505898"/>
        <a:ext cx="7628443" cy="437341"/>
      </dsp:txXfrm>
    </dsp:sp>
    <dsp:sp modelId="{067E532B-B9E8-45DE-B0A0-0563FA95F5E2}">
      <dsp:nvSpPr>
        <dsp:cNvPr id="0" name=""/>
        <dsp:cNvSpPr/>
      </dsp:nvSpPr>
      <dsp:spPr>
        <a:xfrm>
          <a:off x="0" y="3078148"/>
          <a:ext cx="7675761" cy="192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70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DataSet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DataTable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DataColumn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 err="1">
              <a:latin typeface="Arial" pitchFamily="34" charset="0"/>
              <a:cs typeface="Arial" pitchFamily="34" charset="0"/>
            </a:rPr>
            <a:t>DataRelation</a:t>
          </a:r>
          <a:endParaRPr lang="ru-R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etc.</a:t>
          </a:r>
          <a:endParaRPr lang="ru-RU" sz="2400" kern="1200" dirty="0">
            <a:latin typeface="Arial" pitchFamily="34" charset="0"/>
            <a:cs typeface="Arial" pitchFamily="34" charset="0"/>
          </a:endParaRPr>
        </a:p>
      </dsp:txBody>
      <dsp:txXfrm>
        <a:off x="0" y="3078148"/>
        <a:ext cx="7675761" cy="1920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F46B4-218F-4A84-AF24-D04C159EA8D2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32CD6-28B1-4694-B2F5-E7952BD175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6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BDF86A5F-4635-45AF-8F4B-0E74918156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B4E5E2BD-3434-47A3-8308-D43B8C3153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0D16C489-CCF1-465F-B0C6-9E9D3D8FD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146F62D-C651-4075-955C-0C8A0B18195C}" type="slidenum">
              <a:rPr lang="ru-RU" altLang="ru-RU"/>
              <a:pPr eaLnBrk="1" hangingPunct="1">
                <a:spcBef>
                  <a:spcPct val="0"/>
                </a:spcBef>
              </a:pPr>
              <a:t>37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D9A2232E-2D5E-4F85-B624-C563A40021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CF21F196-3ECA-4953-8A9A-DCFB822AA1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6A577DE0-DDC4-4F8C-83B8-BDD85C41C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94EB150-B312-4290-8983-8C325CC7463F}" type="slidenum">
              <a:rPr lang="ru-RU" altLang="ru-RU"/>
              <a:pPr eaLnBrk="1" hangingPunct="1">
                <a:spcBef>
                  <a:spcPct val="0"/>
                </a:spcBef>
              </a:pPr>
              <a:t>38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6C983B57-4851-4CD1-A15E-75F2694081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2FB4891C-6FB7-45E5-AD28-D1AD8270CB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15E93831-3F6A-4A6D-BF20-47FD4A211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2C473B9-42B4-44B6-A98E-0C848C9B5444}" type="slidenum">
              <a:rPr lang="ru-RU" altLang="ru-RU"/>
              <a:pPr eaLnBrk="1" hangingPunct="1">
                <a:spcBef>
                  <a:spcPct val="0"/>
                </a:spcBef>
              </a:pPr>
              <a:t>39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27F407DA-A777-4BF6-A9C1-D9388D8965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814C98FF-9F37-4C94-9743-204D29E858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D7D0A11E-3185-475F-8D0E-1596070E3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7F9B88C-F929-4769-99C6-061478940B06}" type="slidenum">
              <a:rPr lang="ru-RU" altLang="ru-RU"/>
              <a:pPr eaLnBrk="1" hangingPunct="1">
                <a:spcBef>
                  <a:spcPct val="0"/>
                </a:spcBef>
              </a:pPr>
              <a:t>40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895600"/>
            <a:ext cx="6858000" cy="1143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kern="1200" baseline="0" dirty="0" smtClean="0">
                <a:solidFill>
                  <a:schemeClr val="accent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</a:p>
          <a:p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304925"/>
            <a:ext cx="6858000" cy="1438275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ALL CAPS</a:t>
            </a:r>
            <a:br>
              <a:rPr lang="en-US" dirty="0"/>
            </a:b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4191000"/>
            <a:ext cx="5943600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1600" b="1" kern="1200" baseline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defRPr lang="en-US" sz="1800" b="1" kern="1200" baseline="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dirty="0"/>
              <a:t>Author Name</a:t>
            </a:r>
          </a:p>
          <a:p>
            <a:pPr lvl="0"/>
            <a:r>
              <a:rPr lang="en-US" dirty="0"/>
              <a:t>Author Position</a:t>
            </a:r>
          </a:p>
          <a:p>
            <a:pPr lvl="0"/>
            <a:r>
              <a:rPr lang="en-US" dirty="0"/>
              <a:t>Author Contact Email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1828800" y="685800"/>
            <a:ext cx="1524000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>
              <a:buNone/>
              <a:defRPr sz="30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en-US" dirty="0"/>
              <a:t>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191000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Author:</a:t>
            </a:r>
          </a:p>
        </p:txBody>
      </p:sp>
    </p:spTree>
    <p:extLst>
      <p:ext uri="{BB962C8B-B14F-4D97-AF65-F5344CB8AC3E}">
        <p14:creationId xmlns:p14="http://schemas.microsoft.com/office/powerpoint/2010/main" val="73646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C 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315200" cy="4800600"/>
          </a:xfrm>
          <a:prstGeom prst="rect">
            <a:avLst/>
          </a:prstGeom>
        </p:spPr>
        <p:txBody>
          <a:bodyPr/>
          <a:lstStyle>
            <a:lvl1pPr marL="287338" indent="-287338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 sz="1600" b="1"/>
            </a:lvl1pPr>
            <a:lvl2pPr marL="798513" indent="-341313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  <a:tabLst>
                <a:tab pos="798513" algn="l"/>
              </a:tabLst>
              <a:defRPr sz="1600"/>
            </a:lvl2pPr>
            <a:lvl3pPr marL="1223963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/>
            </a:lvl3pPr>
            <a:lvl4pPr marL="1673225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tabLst>
                <a:tab pos="1611313" algn="l"/>
              </a:tabLst>
              <a:defRPr/>
            </a:lvl4pPr>
            <a:lvl5pPr marL="2222500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0924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1219200"/>
            <a:ext cx="7315200" cy="480060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>
                  <a:lumMod val="75000"/>
                </a:schemeClr>
              </a:buClr>
              <a:buSzPct val="140000"/>
              <a:buFont typeface="Wingdings" pitchFamily="2" charset="2"/>
              <a:buChar char="§"/>
              <a:defRPr/>
            </a:lvl1pPr>
            <a:lvl2pPr marL="742950" indent="-285750"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•"/>
              <a:defRPr/>
            </a:lvl2pPr>
            <a:lvl3pPr marL="1166813" indent="-285750"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›"/>
              <a:defRPr/>
            </a:lvl3pPr>
            <a:lvl4pPr marL="1611313" indent="-280988"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―"/>
              <a:tabLst>
                <a:tab pos="1611313" algn="l"/>
              </a:tabLst>
              <a:defRPr/>
            </a:lvl4pPr>
            <a:lvl5pPr marL="18796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4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77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2514600"/>
            <a:ext cx="6400800" cy="1438275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ALL CAPS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01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90800"/>
            <a:ext cx="6858000" cy="1143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kern="1200" baseline="0" dirty="0" smtClean="0">
                <a:solidFill>
                  <a:schemeClr val="accent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Title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762000"/>
            <a:ext cx="685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СПАСИБО</a:t>
            </a:r>
            <a:r>
              <a:rPr lang="ru-RU" sz="3200" b="1" baseline="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ЗА ВНИМАНИЕ!</a:t>
            </a:r>
            <a:endParaRPr lang="en-US" sz="3200" b="1" baseline="0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en-US" sz="3200" b="1" baseline="0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3200" b="1" baseline="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ВОПРОСЫ?</a:t>
            </a:r>
            <a:endParaRPr lang="en-US" sz="3200" b="1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4114800"/>
            <a:ext cx="5943600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1600" b="1" kern="1200" baseline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defRPr lang="en-US" sz="1800" b="1" kern="1200" baseline="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dirty="0"/>
              <a:t>Author Name</a:t>
            </a:r>
          </a:p>
          <a:p>
            <a:pPr lvl="0"/>
            <a:r>
              <a:rPr lang="en-US" dirty="0"/>
              <a:t>Author Position</a:t>
            </a:r>
          </a:p>
          <a:p>
            <a:pPr lvl="0"/>
            <a:r>
              <a:rPr lang="en-US" dirty="0"/>
              <a:t>Author Contact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114800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Author:</a:t>
            </a:r>
          </a:p>
        </p:txBody>
      </p:sp>
    </p:spTree>
    <p:extLst>
      <p:ext uri="{BB962C8B-B14F-4D97-AF65-F5344CB8AC3E}">
        <p14:creationId xmlns:p14="http://schemas.microsoft.com/office/powerpoint/2010/main" val="418895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spect="1"/>
          </p:cNvSpPr>
          <p:nvPr>
            <p:ph type="title"/>
          </p:nvPr>
        </p:nvSpPr>
        <p:spPr>
          <a:xfrm>
            <a:off x="251520" y="260648"/>
            <a:ext cx="8640960" cy="514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126000" tIns="72000" rIns="126000" bIns="72000" anchor="t" anchorCtr="0">
            <a:sp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76064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FontTx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FontTx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32" name="Subtitle 2"/>
          <p:cNvSpPr>
            <a:spLocks noGrp="1"/>
          </p:cNvSpPr>
          <p:nvPr>
            <p:ph type="subTitle" idx="13"/>
          </p:nvPr>
        </p:nvSpPr>
        <p:spPr>
          <a:xfrm>
            <a:off x="7956376" y="404664"/>
            <a:ext cx="824136" cy="288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F4F034-D490-4B7F-B846-85E487366A4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757988" y="63007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0070C0"/>
                </a:solidFill>
              </a:defRPr>
            </a:lvl1pPr>
          </a:lstStyle>
          <a:p>
            <a:fld id="{0D1A9FB2-335D-4626-9DA0-9F802F2C1BC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65156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895600"/>
            <a:ext cx="6858000" cy="1143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kern="1200" baseline="0" dirty="0" smtClean="0">
                <a:solidFill>
                  <a:schemeClr val="accent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</a:p>
          <a:p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304925"/>
            <a:ext cx="6858000" cy="1438275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ALL CAPS</a:t>
            </a:r>
            <a:br>
              <a:rPr lang="en-US" dirty="0"/>
            </a:b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4191000"/>
            <a:ext cx="5943600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1600" b="1" kern="1200" baseline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defRPr lang="en-US" sz="1800" b="1" kern="1200" baseline="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dirty="0"/>
              <a:t>Author Name</a:t>
            </a:r>
          </a:p>
          <a:p>
            <a:pPr lvl="0"/>
            <a:r>
              <a:rPr lang="en-US" dirty="0"/>
              <a:t>Author Position</a:t>
            </a:r>
          </a:p>
          <a:p>
            <a:pPr lvl="0"/>
            <a:r>
              <a:rPr lang="en-US" dirty="0"/>
              <a:t>Author Contact Email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61DFAE64-6EFB-4C12-AA63-DD876225458E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1828800" y="685800"/>
            <a:ext cx="1524000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>
              <a:buNone/>
              <a:defRPr sz="30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en-US" dirty="0"/>
              <a:t>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191000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Author:</a:t>
            </a:r>
          </a:p>
        </p:txBody>
      </p:sp>
    </p:spTree>
    <p:extLst>
      <p:ext uri="{BB962C8B-B14F-4D97-AF65-F5344CB8AC3E}">
        <p14:creationId xmlns:p14="http://schemas.microsoft.com/office/powerpoint/2010/main" val="73646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</p:bld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C 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15"/>
          <p:cNvSpPr>
            <a:spLocks noGrp="1"/>
          </p:cNvSpPr>
          <p:nvPr>
            <p:ph type="ftr" sz="quarter" idx="23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410A72C1-DB1D-4E7D-8D60-178003B4351C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315200" cy="4800600"/>
          </a:xfrm>
          <a:prstGeom prst="rect">
            <a:avLst/>
          </a:prstGeom>
        </p:spPr>
        <p:txBody>
          <a:bodyPr/>
          <a:lstStyle>
            <a:lvl1pPr marL="287338" indent="-287338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 sz="1600" b="1"/>
            </a:lvl1pPr>
            <a:lvl2pPr marL="798513" indent="-341313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  <a:tabLst>
                <a:tab pos="798513" algn="l"/>
              </a:tabLst>
              <a:defRPr sz="1600"/>
            </a:lvl2pPr>
            <a:lvl3pPr marL="1223963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/>
            </a:lvl3pPr>
            <a:lvl4pPr marL="1673225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tabLst>
                <a:tab pos="1611313" algn="l"/>
              </a:tabLst>
              <a:defRPr/>
            </a:lvl4pPr>
            <a:lvl5pPr marL="2222500" indent="-34290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092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</p:bld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1219200"/>
            <a:ext cx="7315200" cy="480060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>
                  <a:lumMod val="75000"/>
                </a:schemeClr>
              </a:buClr>
              <a:buSzPct val="140000"/>
              <a:buFont typeface="Wingdings" pitchFamily="2" charset="2"/>
              <a:buChar char="§"/>
              <a:defRPr/>
            </a:lvl1pPr>
            <a:lvl2pPr marL="742950" indent="-285750"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•"/>
              <a:defRPr/>
            </a:lvl2pPr>
            <a:lvl3pPr marL="1166813" indent="-285750"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›"/>
              <a:defRPr/>
            </a:lvl3pPr>
            <a:lvl4pPr marL="1611313" indent="-280988"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―"/>
              <a:tabLst>
                <a:tab pos="1611313" algn="l"/>
              </a:tabLst>
              <a:defRPr/>
            </a:lvl4pPr>
            <a:lvl5pPr marL="18796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1136A7-4190-4AFB-BDE4-0E178EC19F69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9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A92A98-5025-45C5-AAC4-3BF37209208A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77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F1B471-561B-4B07-AC32-1F3DD84BC656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8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2514600"/>
            <a:ext cx="6400800" cy="1438275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ALL CAPS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E4226C-C224-4814-B224-E55C4715BE1B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01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90800"/>
            <a:ext cx="6858000" cy="1143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kern="1200" baseline="0" dirty="0" smtClean="0">
                <a:solidFill>
                  <a:schemeClr val="accent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Title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762000"/>
            <a:ext cx="685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СПАСИБО</a:t>
            </a:r>
            <a:r>
              <a:rPr lang="ru-RU" sz="3200" b="1" baseline="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ЗА ВНИМАНИЕ!</a:t>
            </a:r>
            <a:endParaRPr lang="en-US" sz="3200" b="1" baseline="0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en-US" sz="3200" b="1" baseline="0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3200" b="1" baseline="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ВОПРОСЫ?</a:t>
            </a:r>
            <a:endParaRPr lang="en-US" sz="3200" b="1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2057400" y="6266827"/>
            <a:ext cx="24384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A4DA21D-B254-49EA-8B8E-07A07B28FDBA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4114800"/>
            <a:ext cx="5943600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1600" b="1" kern="1200" baseline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defRPr lang="en-US" sz="1800" b="1" kern="1200" baseline="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defRPr lang="en-US" sz="1800" b="1" kern="1200" baseline="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dirty="0"/>
              <a:t>Author Name</a:t>
            </a:r>
          </a:p>
          <a:p>
            <a:pPr lvl="0"/>
            <a:r>
              <a:rPr lang="en-US" dirty="0"/>
              <a:t>Author Position</a:t>
            </a:r>
          </a:p>
          <a:p>
            <a:pPr lvl="0"/>
            <a:r>
              <a:rPr lang="en-US" dirty="0"/>
              <a:t>Author Contact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114800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Author:</a:t>
            </a:r>
          </a:p>
        </p:txBody>
      </p:sp>
    </p:spTree>
    <p:extLst>
      <p:ext uri="{BB962C8B-B14F-4D97-AF65-F5344CB8AC3E}">
        <p14:creationId xmlns:p14="http://schemas.microsoft.com/office/powerpoint/2010/main" val="418895540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5190" y="1777972"/>
            <a:ext cx="6285010" cy="1574828"/>
          </a:xfrm>
        </p:spPr>
        <p:txBody>
          <a:bodyPr/>
          <a:lstStyle>
            <a:lvl1pPr algn="l">
              <a:defRPr>
                <a:solidFill>
                  <a:srgbClr val="2750AB"/>
                </a:solidFill>
                <a:latin typeface="Helvetica LT Std"/>
              </a:defRPr>
            </a:lvl1pPr>
          </a:lstStyle>
          <a:p>
            <a:r>
              <a:rPr lang="en-US" dirty="0"/>
              <a:t>Code.0X (Module Code)</a:t>
            </a:r>
            <a:br>
              <a:rPr lang="en-US" dirty="0"/>
            </a:br>
            <a:r>
              <a:rPr lang="en-US" dirty="0"/>
              <a:t>xxx (Module Name)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947387" y="3536923"/>
            <a:ext cx="42672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elvetica LT Std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Resource Development Dep.</a:t>
            </a:r>
          </a:p>
          <a:p>
            <a:pPr lvl="0"/>
            <a:r>
              <a:rPr lang="en-US" dirty="0"/>
              <a:t>Author: (author name)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44813" y="5924550"/>
            <a:ext cx="6207125" cy="873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LTStd-Roman"/>
              </a:defRPr>
            </a:lvl1pPr>
          </a:lstStyle>
          <a:p>
            <a:pPr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grayWhite">
          <a:xfrm>
            <a:off x="0" y="0"/>
            <a:ext cx="9144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 bwMode="black">
          <a:xfrm>
            <a:off x="0" y="0"/>
            <a:ext cx="1216025" cy="9874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 bwMode="white">
          <a:xfrm>
            <a:off x="76200" y="1066800"/>
            <a:ext cx="2590800" cy="1219200"/>
          </a:xfrm>
          <a:prstGeom prst="rect">
            <a:avLst/>
          </a:prstGeom>
          <a:blipFill dpi="0" rotWithShape="1">
            <a:blip r:embed="rId2" cstate="print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136" descr="s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284941">
            <a:off x="8659813" y="5872163"/>
            <a:ext cx="54292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9" descr="s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284941" flipH="1" flipV="1">
            <a:off x="152400" y="4724400"/>
            <a:ext cx="4254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9" descr="s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284941">
            <a:off x="533400" y="152400"/>
            <a:ext cx="692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12"/>
          <p:cNvCxnSpPr/>
          <p:nvPr/>
        </p:nvCxnSpPr>
        <p:spPr bwMode="white">
          <a:xfrm>
            <a:off x="1217613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3"/>
          <p:cNvCxnSpPr/>
          <p:nvPr/>
        </p:nvCxnSpPr>
        <p:spPr bwMode="ltGray">
          <a:xfrm>
            <a:off x="8713788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/>
        </p:nvCxnSpPr>
        <p:spPr bwMode="ltGray">
          <a:xfrm>
            <a:off x="267017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5"/>
          <p:cNvCxnSpPr/>
          <p:nvPr/>
        </p:nvCxnSpPr>
        <p:spPr bwMode="grayWhite">
          <a:xfrm>
            <a:off x="0" y="990600"/>
            <a:ext cx="9144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6"/>
          <p:cNvCxnSpPr/>
          <p:nvPr/>
        </p:nvCxnSpPr>
        <p:spPr bwMode="grayWhite">
          <a:xfrm>
            <a:off x="5788025" y="1069975"/>
            <a:ext cx="3355975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01"/>
          <p:cNvGrpSpPr>
            <a:grpSpLocks/>
          </p:cNvGrpSpPr>
          <p:nvPr/>
        </p:nvGrpSpPr>
        <p:grpSpPr bwMode="ltGray">
          <a:xfrm>
            <a:off x="-61512" y="-103188"/>
            <a:ext cx="4100112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6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7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8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9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0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1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2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3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4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5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6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7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8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29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0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1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2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4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5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6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7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8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9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0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1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2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3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4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5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6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47" name="Group 21"/>
          <p:cNvGrpSpPr>
            <a:grpSpLocks/>
          </p:cNvGrpSpPr>
          <p:nvPr/>
        </p:nvGrpSpPr>
        <p:grpSpPr bwMode="auto">
          <a:xfrm rot="-1906589">
            <a:off x="3335338" y="1909763"/>
            <a:ext cx="6021387" cy="4829175"/>
            <a:chOff x="1761807" y="615248"/>
            <a:chExt cx="6021229" cy="4829684"/>
          </a:xfrm>
        </p:grpSpPr>
        <p:grpSp>
          <p:nvGrpSpPr>
            <p:cNvPr id="48" name="Group 42"/>
            <p:cNvGrpSpPr>
              <a:grpSpLocks/>
            </p:cNvGrpSpPr>
            <p:nvPr userDrawn="1"/>
          </p:nvGrpSpPr>
          <p:grpSpPr bwMode="auto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6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6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cxnSp>
          <p:nvCxnSpPr>
            <p:cNvPr id="4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38"/>
            <p:cNvGrpSpPr>
              <a:grpSpLocks/>
            </p:cNvGrpSpPr>
            <p:nvPr userDrawn="1"/>
          </p:nvGrpSpPr>
          <p:grpSpPr bwMode="auto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6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51" name="Group 39"/>
            <p:cNvGrpSpPr>
              <a:grpSpLocks/>
            </p:cNvGrpSpPr>
            <p:nvPr userDrawn="1"/>
          </p:nvGrpSpPr>
          <p:grpSpPr bwMode="auto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5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52" name="Group 37"/>
            <p:cNvGrpSpPr>
              <a:grpSpLocks/>
            </p:cNvGrpSpPr>
            <p:nvPr userDrawn="1"/>
          </p:nvGrpSpPr>
          <p:grpSpPr bwMode="auto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5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53" name="Group 36"/>
            <p:cNvGrpSpPr>
              <a:grpSpLocks/>
            </p:cNvGrpSpPr>
            <p:nvPr userDrawn="1"/>
          </p:nvGrpSpPr>
          <p:grpSpPr bwMode="auto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5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pic>
        <p:nvPicPr>
          <p:cNvPr id="64" name="Picture 230" descr="s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648200" y="4419600"/>
            <a:ext cx="8953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152" y="1069848"/>
            <a:ext cx="7470648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2743200" y="384048"/>
            <a:ext cx="5943600" cy="6126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5" name="Дата 82"/>
          <p:cNvSpPr>
            <a:spLocks noGrp="1"/>
          </p:cNvSpPr>
          <p:nvPr>
            <p:ph type="dt" sz="half" idx="10"/>
          </p:nvPr>
        </p:nvSpPr>
        <p:spPr>
          <a:xfrm>
            <a:off x="447675" y="6364288"/>
            <a:ext cx="21859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66" name="Номер слайда 8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4DF4D-4687-48C5-9DEC-A1B885E68C46}" type="slidenum">
              <a:rPr lang="ru-RU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white"/>
              </a:solidFill>
            </a:endParaRPr>
          </a:p>
        </p:txBody>
      </p:sp>
      <p:sp>
        <p:nvSpPr>
          <p:cNvPr id="67" name="Нижний колонтитул 84"/>
          <p:cNvSpPr>
            <a:spLocks noGrp="1"/>
          </p:cNvSpPr>
          <p:nvPr>
            <p:ph type="ftr" sz="quarter" idx="12"/>
          </p:nvPr>
        </p:nvSpPr>
        <p:spPr>
          <a:xfrm>
            <a:off x="2670175" y="6364288"/>
            <a:ext cx="53117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3200">
              <a:solidFill>
                <a:prstClr val="black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46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96664-FA1E-4926-84A0-59CFD30A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163033-354C-4E81-8C4F-36958A00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AF7189-879B-4BF1-BF75-809D79C5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96EDE-3C2C-4CA2-994F-DBAD19F7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05D2E-3AAD-4455-A38A-F6A5736A55F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934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80000"/>
                <a:satMod val="300000"/>
              </a:schemeClr>
            </a:gs>
            <a:gs pos="65000">
              <a:schemeClr val="bg2">
                <a:shade val="30000"/>
                <a:satMod val="200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-19050" y="6327152"/>
            <a:ext cx="3133441" cy="2674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828800" y="6327152"/>
            <a:ext cx="7315200" cy="2674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2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200" y="6248400"/>
            <a:ext cx="990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78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40" r:id="rId14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accent1">
              <a:lumMod val="75000"/>
            </a:schemeClr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-19050" y="6327152"/>
            <a:ext cx="3133441" cy="2674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828800" y="6327152"/>
            <a:ext cx="7315200" cy="2674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2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200" y="6248400"/>
            <a:ext cx="990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Rectangle 6"/>
          <p:cNvSpPr/>
          <p:nvPr/>
        </p:nvSpPr>
        <p:spPr bwMode="grayWhite">
          <a:xfrm>
            <a:off x="0" y="0"/>
            <a:ext cx="9144000" cy="1000108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7"/>
          <p:cNvSpPr/>
          <p:nvPr/>
        </p:nvSpPr>
        <p:spPr bwMode="black">
          <a:xfrm>
            <a:off x="0" y="0"/>
            <a:ext cx="1216025" cy="9874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99" descr="sta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284941">
            <a:off x="533400" y="152400"/>
            <a:ext cx="692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15"/>
          <p:cNvCxnSpPr/>
          <p:nvPr/>
        </p:nvCxnSpPr>
        <p:spPr bwMode="grayWhite">
          <a:xfrm>
            <a:off x="0" y="990600"/>
            <a:ext cx="9144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78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accent1">
              <a:lumMod val="75000"/>
            </a:schemeClr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nectionstrings.com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http://www.ezzylearning.com/tutorials/images/dataset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gasn/LabADO/tree/factory" TargetMode="External"/><Relationship Id="rId2" Type="http://schemas.openxmlformats.org/officeDocument/2006/relationships/hyperlink" Target="https://github.com/Olgasn/LabADO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gasn/LabADO/tree/factory" TargetMode="External"/><Relationship Id="rId2" Type="http://schemas.openxmlformats.org/officeDocument/2006/relationships/hyperlink" Target="https://github.com/Olgasn/LabADO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gasn/LabADO/tree/factory" TargetMode="External"/><Relationship Id="rId2" Type="http://schemas.openxmlformats.org/officeDocument/2006/relationships/hyperlink" Target="https://github.com/Olgasn/LabADO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gasn/LabADO/tree/factory" TargetMode="External"/><Relationship Id="rId2" Type="http://schemas.openxmlformats.org/officeDocument/2006/relationships/hyperlink" Target="https://github.com/Olgasn/LabADO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ru-ru/library/system.data.common.dbproviderfactory%28v=vs.110%29.aspx" TargetMode="External"/><Relationship Id="rId7" Type="http://schemas.openxmlformats.org/officeDocument/2006/relationships/hyperlink" Target="https://msdn.microsoft.com/ru-ru/library/system.data.datatable%28v=vs.110%29.aspx" TargetMode="External"/><Relationship Id="rId2" Type="http://schemas.openxmlformats.org/officeDocument/2006/relationships/hyperlink" Target="https://msdn.microsoft.com/ru-ru/library/s90hx22e%28v=vs.110%29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sdn.microsoft.com/ru-ru/library/system.data.common.dbproviderfactories.getfactoryclasses%28v=vs.110%29.aspx" TargetMode="External"/><Relationship Id="rId5" Type="http://schemas.openxmlformats.org/officeDocument/2006/relationships/hyperlink" Target="https://msdn.microsoft.com/ru-ru/library/h508h681%28v=vs.110%29.aspx" TargetMode="External"/><Relationship Id="rId4" Type="http://schemas.openxmlformats.org/officeDocument/2006/relationships/hyperlink" Target="https://msdn.microsoft.com/ru-ru/library/hh323136%28v=vs.110%29.aspx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msdn.microsoft.com/ru-ru/library/system.data.common.dbproviderfactory.createconnectionstringbuilder(v=vs.110).aspx" TargetMode="External"/><Relationship Id="rId13" Type="http://schemas.openxmlformats.org/officeDocument/2006/relationships/hyperlink" Target="https://msdn.microsoft.com/ru-ru/library/system.data.common.dbdatasourceenumerator(v=vs.110).aspx" TargetMode="External"/><Relationship Id="rId3" Type="http://schemas.openxmlformats.org/officeDocument/2006/relationships/hyperlink" Target="https://msdn.microsoft.com/ru-ru/library/system.data.common.dbcommand(v=vs.110).aspx" TargetMode="External"/><Relationship Id="rId7" Type="http://schemas.openxmlformats.org/officeDocument/2006/relationships/hyperlink" Target="https://msdn.microsoft.com/ru-ru/library/system.data.common.dbconnection(v=vs.110).aspx" TargetMode="External"/><Relationship Id="rId12" Type="http://schemas.openxmlformats.org/officeDocument/2006/relationships/hyperlink" Target="https://msdn.microsoft.com/ru-ru/library/system.data.common.dbproviderfactory.createdatasourceenumerator(v=vs.110).aspx" TargetMode="External"/><Relationship Id="rId2" Type="http://schemas.openxmlformats.org/officeDocument/2006/relationships/hyperlink" Target="https://msdn.microsoft.com/ru-ru/library/system.data.common.dbproviderfactory.createcommand(v=vs.110)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sdn.microsoft.com/ru-ru/library/system.data.common.dbproviderfactory.createconnection(v=vs.110).aspx" TargetMode="External"/><Relationship Id="rId11" Type="http://schemas.openxmlformats.org/officeDocument/2006/relationships/hyperlink" Target="https://msdn.microsoft.com/ru-ru/library/system.data.common.dbdataadapter(v=vs.110).aspx" TargetMode="External"/><Relationship Id="rId5" Type="http://schemas.openxmlformats.org/officeDocument/2006/relationships/hyperlink" Target="https://msdn.microsoft.com/ru-ru/library/system.data.common.dbcommandbuilder(v=vs.110).aspx" TargetMode="External"/><Relationship Id="rId15" Type="http://schemas.openxmlformats.org/officeDocument/2006/relationships/hyperlink" Target="https://msdn.microsoft.com/ru-ru/library/system.data.common.dbparameter(v=vs.110).aspx" TargetMode="External"/><Relationship Id="rId10" Type="http://schemas.openxmlformats.org/officeDocument/2006/relationships/hyperlink" Target="https://msdn.microsoft.com/ru-ru/library/system.data.common.dbproviderfactory.createdataadapter(v=vs.110).aspx" TargetMode="External"/><Relationship Id="rId4" Type="http://schemas.openxmlformats.org/officeDocument/2006/relationships/hyperlink" Target="https://msdn.microsoft.com/ru-ru/library/system.data.common.dbproviderfactory.createcommandbuilder(v=vs.110).aspx" TargetMode="External"/><Relationship Id="rId9" Type="http://schemas.openxmlformats.org/officeDocument/2006/relationships/hyperlink" Target="https://msdn.microsoft.com/ru-ru/library/system.data.common.dbconnectionstringbuilder(v=vs.110).aspx" TargetMode="External"/><Relationship Id="rId14" Type="http://schemas.openxmlformats.org/officeDocument/2006/relationships/hyperlink" Target="https://msdn.microsoft.com/ru-ru/library/system.data.common.dbproviderfactory.createparameter(v=vs.110).aspx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gasn/UsingDbProviderFactory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611188" y="1069975"/>
            <a:ext cx="8075612" cy="1470025"/>
          </a:xfrm>
        </p:spPr>
        <p:txBody>
          <a:bodyPr>
            <a:noAutofit/>
          </a:bodyPr>
          <a:lstStyle/>
          <a:p>
            <a:br>
              <a:rPr lang="ru-RU" sz="4000" i="1" dirty="0"/>
            </a:br>
            <a:r>
              <a:rPr lang="ru-RU" sz="4000" i="1" dirty="0"/>
              <a:t>Технологии доступа к данным. </a:t>
            </a:r>
            <a:r>
              <a:rPr lang="en-US" sz="4000" i="1" dirty="0"/>
              <a:t>ADO .NET</a:t>
            </a:r>
            <a:br>
              <a:rPr lang="ru-RU" sz="4000" i="1" dirty="0"/>
            </a:br>
            <a:endParaRPr lang="ru-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3CA4F7F3-1E93-4AE2-A8EF-F40C3BF41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606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106F58E-1152-4AA4-8AD1-E5E90122F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280" cy="7159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altLang="ru-RU" sz="3200" dirty="0"/>
              <a:t>Работа</a:t>
            </a:r>
            <a:r>
              <a:rPr lang="ru-RU" altLang="ru-RU" dirty="0"/>
              <a:t> с внешними источниками данных 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35FC3B6-4805-424A-AEE7-72E466476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7992888" cy="4800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Получение данных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Представление данных в определенном формате для просмотра пользователем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Обработку (редактирование) в соответствии с реализованными в программе алгоритмами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Возврат обработанных данных в источник данных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C8EC9A-0ABD-49AB-9CB8-9494068EE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5334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altLang="ru-RU" sz="2800" dirty="0"/>
              <a:t>Механизм доступа к внешнему источнику данных 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B70EFB7-1411-419E-93BF-FCEE51AD6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1481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2054" name="AutoShape 6">
            <a:extLst>
              <a:ext uri="{FF2B5EF4-FFF2-40B4-BE49-F238E27FC236}">
                <a16:creationId xmlns:a16="http://schemas.microsoft.com/office/drawing/2014/main" id="{75B19309-BF8A-4B43-B975-C7A1F371D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021263"/>
            <a:ext cx="3505200" cy="458787"/>
          </a:xfrm>
          <a:prstGeom prst="flowChartProcess">
            <a:avLst/>
          </a:pr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ru-RU" altLang="ru-RU" b="1" dirty="0"/>
              <a:t>ПО доступа к данным</a:t>
            </a:r>
          </a:p>
        </p:txBody>
      </p:sp>
      <p:sp>
        <p:nvSpPr>
          <p:cNvPr id="2055" name="AutoShape 7">
            <a:extLst>
              <a:ext uri="{FF2B5EF4-FFF2-40B4-BE49-F238E27FC236}">
                <a16:creationId xmlns:a16="http://schemas.microsoft.com/office/drawing/2014/main" id="{FD340857-2789-4E51-8814-48490AED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921375"/>
            <a:ext cx="4419600" cy="708025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ru-RU" altLang="ru-RU" b="1"/>
              <a:t>Внешний источник</a:t>
            </a:r>
            <a:r>
              <a:rPr lang="en-US" altLang="ru-RU" b="1"/>
              <a:t> </a:t>
            </a:r>
            <a:r>
              <a:rPr lang="ru-RU" altLang="ru-RU" b="1"/>
              <a:t>данных</a:t>
            </a:r>
          </a:p>
        </p:txBody>
      </p:sp>
      <p:sp>
        <p:nvSpPr>
          <p:cNvPr id="2057" name="AutoShape 9">
            <a:extLst>
              <a:ext uri="{FF2B5EF4-FFF2-40B4-BE49-F238E27FC236}">
                <a16:creationId xmlns:a16="http://schemas.microsoft.com/office/drawing/2014/main" id="{AF49331E-2BC4-4556-A048-331A1E82F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4591050"/>
            <a:ext cx="320675" cy="419100"/>
          </a:xfrm>
          <a:prstGeom prst="upDownArrow">
            <a:avLst>
              <a:gd name="adj1" fmla="val 50000"/>
              <a:gd name="adj2" fmla="val 26139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A14A2F2C-F9D3-410B-9917-C59C70B44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762000"/>
            <a:ext cx="6553200" cy="5921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b="1">
                <a:cs typeface="Times New Roman" panose="02020603050405020304" pitchFamily="18" charset="0"/>
              </a:rPr>
              <a:t>Пользовательский интерфейс 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FFA53583-5F9E-4628-87E0-9EF61553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93875"/>
            <a:ext cx="6553200" cy="7620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Механизм связи внутреннего представления 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с интерфейсом приложения</a:t>
            </a:r>
            <a:endParaRPr lang="ru-RU" dirty="0"/>
          </a:p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6EF2A0E1-CF2E-4727-8838-815465F5E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878136"/>
            <a:ext cx="6553200" cy="728664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Механизм внутреннего представления данных, </a:t>
            </a:r>
          </a:p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обеспечивающий хранение данных </a:t>
            </a:r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BA131B9E-0ADD-4B32-B608-D38FD74B7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46538"/>
            <a:ext cx="6553200" cy="5334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b="1" dirty="0">
                <a:cs typeface="Times New Roman" panose="02020603050405020304" pitchFamily="18" charset="0"/>
              </a:rPr>
              <a:t>Механизм получения и отправки данных</a:t>
            </a:r>
          </a:p>
        </p:txBody>
      </p:sp>
      <p:sp>
        <p:nvSpPr>
          <p:cNvPr id="2064" name="AutoShape 16">
            <a:extLst>
              <a:ext uri="{FF2B5EF4-FFF2-40B4-BE49-F238E27FC236}">
                <a16:creationId xmlns:a16="http://schemas.microsoft.com/office/drawing/2014/main" id="{EDDF2421-BB2A-44D0-B4E5-F1D0CE92C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3617913"/>
            <a:ext cx="320675" cy="419100"/>
          </a:xfrm>
          <a:prstGeom prst="upDownArrow">
            <a:avLst>
              <a:gd name="adj1" fmla="val 50000"/>
              <a:gd name="adj2" fmla="val 26139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65" name="AutoShape 17">
            <a:extLst>
              <a:ext uri="{FF2B5EF4-FFF2-40B4-BE49-F238E27FC236}">
                <a16:creationId xmlns:a16="http://schemas.microsoft.com/office/drawing/2014/main" id="{D941DEC2-3C59-4B69-848C-72C435755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2566988"/>
            <a:ext cx="320675" cy="301623"/>
          </a:xfrm>
          <a:prstGeom prst="upDownArrow">
            <a:avLst>
              <a:gd name="adj1" fmla="val 50000"/>
              <a:gd name="adj2" fmla="val 26139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66" name="AutoShape 18">
            <a:extLst>
              <a:ext uri="{FF2B5EF4-FFF2-40B4-BE49-F238E27FC236}">
                <a16:creationId xmlns:a16="http://schemas.microsoft.com/office/drawing/2014/main" id="{71EA76D6-C958-4925-8F34-02D906373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1363663"/>
            <a:ext cx="320675" cy="419100"/>
          </a:xfrm>
          <a:prstGeom prst="upDownArrow">
            <a:avLst>
              <a:gd name="adj1" fmla="val 50000"/>
              <a:gd name="adj2" fmla="val 26139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67" name="AutoShape 19">
            <a:extLst>
              <a:ext uri="{FF2B5EF4-FFF2-40B4-BE49-F238E27FC236}">
                <a16:creationId xmlns:a16="http://schemas.microsoft.com/office/drawing/2014/main" id="{35E8C38B-EB1F-47FF-AD79-8DE23261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5491163"/>
            <a:ext cx="320675" cy="419100"/>
          </a:xfrm>
          <a:prstGeom prst="upDownArrow">
            <a:avLst>
              <a:gd name="adj1" fmla="val 50000"/>
              <a:gd name="adj2" fmla="val 26139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FC342E-B8BA-48CC-A012-85F2F023E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altLang="ru-RU" sz="2800" dirty="0"/>
              <a:t>ПО доступа к данным 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A024D77-15A5-4F75-849A-F2B130EE8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8B99FCB-B987-438B-AB0C-3D0CB312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978242"/>
            <a:ext cx="86409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dirty="0"/>
              <a:t>Может быть реализовано как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dirty="0"/>
              <a:t>Программное окружение приложения, без которого приложение не сможет работать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alt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dirty="0"/>
              <a:t>Набор драйверов и динамических библиотек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alt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dirty="0"/>
              <a:t>Подпрограммы, интегрированные в само приложение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alt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dirty="0"/>
              <a:t>Отдельный сервер, обслуживающий множество приложений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C7B70C9-5B14-45E7-93A7-6D0648C75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304800"/>
            <a:ext cx="8712968" cy="11799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altLang="ru-RU" sz="2800" dirty="0"/>
              <a:t>Технологии доступа к внешним источникам данных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506A7DE-A962-4915-A112-0E151AA20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50" y="1562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E60D3D91-7DAF-4639-98F8-002CF8F28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057400"/>
            <a:ext cx="820891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ru-RU" altLang="ru-RU" sz="2800" dirty="0"/>
              <a:t> </a:t>
            </a:r>
            <a:r>
              <a:rPr lang="en-US" altLang="ru-RU" sz="2800" b="1" dirty="0">
                <a:cs typeface="Times New Roman" panose="02020603050405020304" pitchFamily="18" charset="0"/>
              </a:rPr>
              <a:t>ADO.NET</a:t>
            </a:r>
            <a:r>
              <a:rPr lang="en-US" altLang="ru-RU" sz="2800" dirty="0">
                <a:cs typeface="Times New Roman" panose="02020603050405020304" pitchFamily="18" charset="0"/>
              </a:rPr>
              <a:t> (ActiveX Data Object </a:t>
            </a:r>
            <a:r>
              <a:rPr lang="ru-RU" altLang="ru-RU" sz="2800" dirty="0">
                <a:cs typeface="Times New Roman" panose="02020603050405020304" pitchFamily="18" charset="0"/>
              </a:rPr>
              <a:t>для .</a:t>
            </a:r>
            <a:r>
              <a:rPr lang="en-US" altLang="ru-RU" sz="2800" dirty="0">
                <a:cs typeface="Times New Roman" panose="02020603050405020304" pitchFamily="18" charset="0"/>
              </a:rPr>
              <a:t>NET)</a:t>
            </a:r>
            <a:r>
              <a:rPr lang="ru-RU" altLang="ru-RU" sz="2800" dirty="0"/>
              <a:t>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ru-RU" altLang="ru-RU" sz="2800" dirty="0"/>
              <a:t> </a:t>
            </a:r>
            <a:r>
              <a:rPr lang="en-US" altLang="ru-RU" sz="2800" b="1" dirty="0">
                <a:cs typeface="Times New Roman" panose="02020603050405020304" pitchFamily="18" charset="0"/>
              </a:rPr>
              <a:t>JDBC</a:t>
            </a:r>
            <a:r>
              <a:rPr lang="en-US" altLang="ru-RU" sz="2800" dirty="0">
                <a:cs typeface="Times New Roman" panose="02020603050405020304" pitchFamily="18" charset="0"/>
              </a:rPr>
              <a:t> </a:t>
            </a:r>
            <a:r>
              <a:rPr lang="ru-RU" altLang="ru-RU" sz="2800" dirty="0">
                <a:cs typeface="Times New Roman" panose="02020603050405020304" pitchFamily="18" charset="0"/>
              </a:rPr>
              <a:t>(</a:t>
            </a:r>
            <a:r>
              <a:rPr lang="en-US" altLang="ru-RU" sz="2800" dirty="0">
                <a:cs typeface="Times New Roman" panose="02020603050405020304" pitchFamily="18" charset="0"/>
              </a:rPr>
              <a:t>Java Database Connectivity</a:t>
            </a:r>
            <a:r>
              <a:rPr lang="ru-RU" altLang="ru-RU" sz="2800" dirty="0"/>
              <a:t>)</a:t>
            </a:r>
            <a:r>
              <a:rPr lang="en-US" altLang="ru-RU" sz="2800" dirty="0">
                <a:cs typeface="Times New Roman" panose="02020603050405020304" pitchFamily="18" charset="0"/>
              </a:rPr>
              <a:t> </a:t>
            </a:r>
            <a:endParaRPr lang="ru-RU" altLang="ru-RU" sz="2800" dirty="0"/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ru-RU" altLang="ru-RU" sz="2800" dirty="0"/>
              <a:t> </a:t>
            </a:r>
            <a:r>
              <a:rPr lang="en-US" altLang="ru-RU" sz="2800" b="1" dirty="0">
                <a:cs typeface="Times New Roman" panose="02020603050405020304" pitchFamily="18" charset="0"/>
              </a:rPr>
              <a:t>BDE </a:t>
            </a:r>
            <a:r>
              <a:rPr lang="en-US" altLang="ru-RU" sz="2800" dirty="0">
                <a:cs typeface="Times New Roman" panose="02020603050405020304" pitchFamily="18" charset="0"/>
              </a:rPr>
              <a:t>(Borland Database Engine)</a:t>
            </a:r>
            <a:r>
              <a:rPr lang="en-US" altLang="ru-RU" sz="2800" b="1" dirty="0">
                <a:cs typeface="Times New Roman" panose="02020603050405020304" pitchFamily="18" charset="0"/>
              </a:rPr>
              <a:t> </a:t>
            </a:r>
            <a:endParaRPr lang="ru-RU" altLang="ru-RU" sz="2800" b="1" dirty="0"/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/>
              <a:t> </a:t>
            </a:r>
            <a:r>
              <a:rPr lang="en-US" sz="2800" b="1"/>
              <a:t>ADOdb</a:t>
            </a:r>
            <a:endParaRPr lang="ru-RU" altLang="ru-RU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251521" y="1219200"/>
            <a:ext cx="8435278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400" b="1" dirty="0"/>
              <a:t>ADO.NET</a:t>
            </a:r>
            <a:r>
              <a:rPr lang="ru-RU" sz="2400" dirty="0"/>
              <a:t> — набор классов, предоставляющих службы доступа к данным программисту, работающему на платформе .NET </a:t>
            </a:r>
            <a:r>
              <a:rPr lang="ru-RU" sz="2400" dirty="0" err="1"/>
              <a:t>Framework</a:t>
            </a:r>
            <a:r>
              <a:rPr lang="ru-RU" sz="2400" dirty="0"/>
              <a:t>.</a:t>
            </a:r>
          </a:p>
          <a:p>
            <a:pPr marL="0" indent="363538" algn="just">
              <a:buNone/>
            </a:pPr>
            <a:endParaRPr lang="ru-RU" sz="2400" dirty="0"/>
          </a:p>
          <a:p>
            <a:pPr marL="0" indent="363538" algn="just">
              <a:buNone/>
            </a:pPr>
            <a:r>
              <a:rPr lang="ru-RU" sz="2400" b="1" dirty="0"/>
              <a:t>ADO.NET</a:t>
            </a:r>
            <a:r>
              <a:rPr lang="ru-RU" sz="2400" dirty="0"/>
              <a:t> имеет богатый набор компонентов для создания распределенных приложений, совместно использующих данные.</a:t>
            </a:r>
            <a:r>
              <a:rPr lang="en-US" sz="2400" dirty="0"/>
              <a:t> </a:t>
            </a:r>
            <a:r>
              <a:rPr lang="ru-RU" sz="2400" dirty="0"/>
              <a:t>Это неотъемлемая часть платформы .NET </a:t>
            </a:r>
            <a:r>
              <a:rPr lang="ru-RU" sz="2400" dirty="0" err="1"/>
              <a:t>Framework</a:t>
            </a:r>
            <a:r>
              <a:rPr lang="ru-RU" sz="2400" dirty="0"/>
              <a:t>, которая предоставляет доступ к</a:t>
            </a:r>
            <a:r>
              <a:rPr lang="en-US" sz="2400" dirty="0"/>
              <a:t>:</a:t>
            </a:r>
          </a:p>
          <a:p>
            <a:pPr lvl="1" algn="just"/>
            <a:r>
              <a:rPr lang="ru-RU" sz="2400" dirty="0"/>
              <a:t>реляционным данным, </a:t>
            </a:r>
            <a:endParaRPr lang="en-US" sz="2400" dirty="0"/>
          </a:p>
          <a:p>
            <a:pPr lvl="1" algn="just"/>
            <a:r>
              <a:rPr lang="ru-RU" sz="2400" dirty="0"/>
              <a:t>XML-данным,</a:t>
            </a:r>
            <a:endParaRPr lang="en-US" sz="2400" dirty="0"/>
          </a:p>
          <a:p>
            <a:pPr lvl="1" algn="just"/>
            <a:r>
              <a:rPr lang="ru-RU" sz="2400" dirty="0"/>
              <a:t>данным приложений.</a:t>
            </a:r>
          </a:p>
          <a:p>
            <a:pPr marL="0" indent="363538" algn="just"/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Фундаментальные классы </a:t>
            </a:r>
            <a:r>
              <a:rPr lang="en-US" sz="2800" dirty="0"/>
              <a:t>ADO.NET</a:t>
            </a:r>
            <a:endParaRPr lang="ru-RU" sz="28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0" y="908720"/>
            <a:ext cx="8748464" cy="511108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400" dirty="0"/>
              <a:t>С точки зрения программиста, тело ADO.NET составляет базовая сборка с именем </a:t>
            </a:r>
            <a:r>
              <a:rPr lang="ru-RU" sz="2400" b="1" dirty="0"/>
              <a:t>System.Data.dll</a:t>
            </a:r>
            <a:r>
              <a:rPr lang="ru-RU" sz="2400" dirty="0"/>
              <a:t>. В этом двоичном файле находится значительное количество пространств имен, многие из которых представляют типы конкретного поставщика данных ADO.NET: </a:t>
            </a:r>
            <a:endParaRPr lang="en-US" sz="2400" dirty="0"/>
          </a:p>
          <a:p>
            <a:pPr marL="0" indent="363538" algn="just">
              <a:buNone/>
            </a:pPr>
            <a:endParaRPr lang="ru-RU" sz="2400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904" y="2872016"/>
            <a:ext cx="5214748" cy="3781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471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0383" y="48742"/>
            <a:ext cx="8229600" cy="715962"/>
          </a:xfrm>
        </p:spPr>
        <p:txBody>
          <a:bodyPr/>
          <a:lstStyle/>
          <a:p>
            <a:r>
              <a:rPr lang="ru-RU" dirty="0"/>
              <a:t>Фундаментальные классы </a:t>
            </a:r>
            <a:r>
              <a:rPr lang="en-US" dirty="0"/>
              <a:t>ADO.NET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976664"/>
          </a:xfrm>
        </p:spPr>
        <p:txBody>
          <a:bodyPr>
            <a:noAutofit/>
          </a:bodyPr>
          <a:lstStyle/>
          <a:p>
            <a:r>
              <a:rPr lang="ru-RU" sz="1600" b="1" dirty="0" err="1"/>
              <a:t>System.Data</a:t>
            </a:r>
            <a:r>
              <a:rPr lang="en-US" sz="1600" dirty="0"/>
              <a:t>- </a:t>
            </a:r>
            <a:r>
              <a:rPr lang="ru-RU" sz="1600" dirty="0"/>
              <a:t>ключевые классы контейнеров данных, которые моделируют столбцы, отношения, таблицы, наборы данных, строки, представления и ограничения. Дополнительно содержит ключевые интерфейсы, которые реализованы объектами данных, основанными на соединениях</a:t>
            </a:r>
          </a:p>
          <a:p>
            <a:r>
              <a:rPr lang="ru-RU" sz="1600" b="1" dirty="0" err="1"/>
              <a:t>System.Data.Common</a:t>
            </a:r>
            <a:r>
              <a:rPr lang="en-US" sz="1600" dirty="0"/>
              <a:t> </a:t>
            </a:r>
            <a:r>
              <a:rPr lang="ru-RU" sz="1600" dirty="0"/>
              <a:t> </a:t>
            </a:r>
            <a:r>
              <a:rPr lang="en-US" sz="1600" dirty="0"/>
              <a:t>- </a:t>
            </a:r>
            <a:r>
              <a:rPr lang="ru-RU" sz="1600" dirty="0"/>
              <a:t>базовые, наиболее абстрактные классы, которые реализуют некоторые из интерфейсов из </a:t>
            </a:r>
            <a:r>
              <a:rPr lang="ru-RU" sz="1600" dirty="0" err="1"/>
              <a:t>System.Data</a:t>
            </a:r>
            <a:r>
              <a:rPr lang="ru-RU" sz="1600" dirty="0"/>
              <a:t> и определяют ядро функциональности ADO.NET. Поставщики данных наследуются от этих классов (</a:t>
            </a:r>
            <a:r>
              <a:rPr lang="ru-RU" sz="1600" dirty="0" err="1"/>
              <a:t>DbConnection</a:t>
            </a:r>
            <a:r>
              <a:rPr lang="ru-RU" sz="1600" dirty="0"/>
              <a:t>, </a:t>
            </a:r>
            <a:r>
              <a:rPr lang="ru-RU" sz="1600" dirty="0" err="1"/>
              <a:t>DbCommand</a:t>
            </a:r>
            <a:r>
              <a:rPr lang="ru-RU" sz="1600" dirty="0"/>
              <a:t> и т.п.), создавая собственные специализированные версии</a:t>
            </a:r>
          </a:p>
          <a:p>
            <a:r>
              <a:rPr lang="ru-RU" sz="1600" b="1" dirty="0" err="1"/>
              <a:t>System.Data.OleDb</a:t>
            </a:r>
            <a:r>
              <a:rPr lang="en-US" sz="1600" dirty="0"/>
              <a:t> </a:t>
            </a:r>
            <a:r>
              <a:rPr lang="ru-RU" sz="1600" dirty="0"/>
              <a:t>  </a:t>
            </a:r>
            <a:r>
              <a:rPr lang="en-US" sz="1600" dirty="0"/>
              <a:t>- </a:t>
            </a:r>
            <a:r>
              <a:rPr lang="ru-RU" sz="1600" dirty="0"/>
              <a:t>классы, используемые для подключения к поставщику OLE DB, включая </a:t>
            </a:r>
            <a:r>
              <a:rPr lang="ru-RU" sz="1600" dirty="0" err="1"/>
              <a:t>OleDbCommand</a:t>
            </a:r>
            <a:r>
              <a:rPr lang="ru-RU" sz="1600" dirty="0"/>
              <a:t>, </a:t>
            </a:r>
            <a:r>
              <a:rPr lang="ru-RU" sz="1600" dirty="0" err="1"/>
              <a:t>OleDbConnection</a:t>
            </a:r>
            <a:r>
              <a:rPr lang="ru-RU" sz="1600" dirty="0"/>
              <a:t> и </a:t>
            </a:r>
            <a:r>
              <a:rPr lang="ru-RU" sz="1600" dirty="0" err="1"/>
              <a:t>OleDbDataAdapter</a:t>
            </a:r>
            <a:r>
              <a:rPr lang="ru-RU" sz="1600" dirty="0"/>
              <a:t>. Эти классы поддерживают большинство поставщиков OLE DB, но не те, что требуют интерфейсов OLE DB версии 2.5</a:t>
            </a:r>
          </a:p>
          <a:p>
            <a:r>
              <a:rPr lang="ru-RU" sz="1600" b="1" dirty="0" err="1"/>
              <a:t>System.Data.SqlClient</a:t>
            </a:r>
            <a:r>
              <a:rPr lang="en-US" sz="1600" dirty="0"/>
              <a:t> </a:t>
            </a:r>
            <a:r>
              <a:rPr lang="ru-RU" sz="1600" dirty="0"/>
              <a:t> </a:t>
            </a:r>
            <a:r>
              <a:rPr lang="en-US" sz="1600" dirty="0"/>
              <a:t>- </a:t>
            </a:r>
            <a:r>
              <a:rPr lang="ru-RU" sz="1600" dirty="0"/>
              <a:t>классы, используемые для подключения к базе данных </a:t>
            </a:r>
            <a:r>
              <a:rPr lang="ru-RU" sz="1600" dirty="0" err="1"/>
              <a:t>Microsoft</a:t>
            </a:r>
            <a:r>
              <a:rPr lang="ru-RU" sz="1600" dirty="0"/>
              <a:t> SQL </a:t>
            </a:r>
            <a:r>
              <a:rPr lang="ru-RU" sz="1600" dirty="0" err="1"/>
              <a:t>Server</a:t>
            </a:r>
            <a:r>
              <a:rPr lang="ru-RU" sz="1600" dirty="0"/>
              <a:t>, в том числе </a:t>
            </a:r>
            <a:r>
              <a:rPr lang="ru-RU" sz="1600" dirty="0" err="1"/>
              <a:t>SqlDbCommand</a:t>
            </a:r>
            <a:r>
              <a:rPr lang="ru-RU" sz="1600" dirty="0"/>
              <a:t>, </a:t>
            </a:r>
            <a:r>
              <a:rPr lang="ru-RU" sz="1600" dirty="0" err="1"/>
              <a:t>SqlDbConnection</a:t>
            </a:r>
            <a:r>
              <a:rPr lang="ru-RU" sz="1600" dirty="0"/>
              <a:t> и </a:t>
            </a:r>
            <a:r>
              <a:rPr lang="ru-RU" sz="1600" dirty="0" err="1"/>
              <a:t>SqlDbDataAdapter</a:t>
            </a:r>
            <a:r>
              <a:rPr lang="ru-RU" sz="1600" dirty="0"/>
              <a:t>. </a:t>
            </a:r>
            <a:r>
              <a:rPr lang="ru-RU" sz="1600" b="1" dirty="0" err="1"/>
              <a:t>System.Data.OracleClient</a:t>
            </a:r>
            <a:r>
              <a:rPr lang="en-US" sz="1600" dirty="0"/>
              <a:t> - </a:t>
            </a:r>
            <a:r>
              <a:rPr lang="ru-RU" sz="1600" dirty="0"/>
              <a:t>классы, необходимые для подключения к базе данных </a:t>
            </a:r>
            <a:r>
              <a:rPr lang="ru-RU" sz="1600" dirty="0" err="1"/>
              <a:t>Oracle</a:t>
            </a:r>
            <a:r>
              <a:rPr lang="ru-RU" sz="1600" dirty="0"/>
              <a:t> (версии 8.1.7 и выше), в том числе </a:t>
            </a:r>
            <a:r>
              <a:rPr lang="ru-RU" sz="1600" dirty="0" err="1"/>
              <a:t>OracleCommand</a:t>
            </a:r>
            <a:r>
              <a:rPr lang="ru-RU" sz="1600" dirty="0"/>
              <a:t>, </a:t>
            </a:r>
            <a:r>
              <a:rPr lang="ru-RU" sz="1600" dirty="0" err="1"/>
              <a:t>OracleConnection</a:t>
            </a:r>
            <a:r>
              <a:rPr lang="ru-RU" sz="1600" dirty="0"/>
              <a:t> и </a:t>
            </a:r>
            <a:r>
              <a:rPr lang="ru-RU" sz="1600" dirty="0" err="1"/>
              <a:t>OracleDataAdapter</a:t>
            </a:r>
            <a:r>
              <a:rPr lang="ru-RU" sz="1600" dirty="0"/>
              <a:t>. </a:t>
            </a:r>
          </a:p>
          <a:p>
            <a:r>
              <a:rPr lang="ru-RU" sz="1600" b="1" dirty="0" err="1"/>
              <a:t>System.Data.Odbc</a:t>
            </a:r>
            <a:r>
              <a:rPr lang="en-US" sz="1600" dirty="0"/>
              <a:t> - </a:t>
            </a:r>
            <a:r>
              <a:rPr lang="ru-RU" sz="1600" dirty="0"/>
              <a:t>классы, необходимые для подключения к большинству драйверов ODBC, такие как </a:t>
            </a:r>
            <a:r>
              <a:rPr lang="ru-RU" sz="1600" dirty="0" err="1"/>
              <a:t>OdbcCommand</a:t>
            </a:r>
            <a:r>
              <a:rPr lang="ru-RU" sz="1600" dirty="0"/>
              <a:t>, </a:t>
            </a:r>
            <a:r>
              <a:rPr lang="ru-RU" sz="1600" dirty="0" err="1"/>
              <a:t>OdbcConnection</a:t>
            </a:r>
            <a:r>
              <a:rPr lang="ru-RU" sz="1600" dirty="0"/>
              <a:t>, </a:t>
            </a:r>
            <a:r>
              <a:rPr lang="ru-RU" sz="1600" dirty="0" err="1"/>
              <a:t>OdbcDataReader</a:t>
            </a:r>
            <a:r>
              <a:rPr lang="ru-RU" sz="1600" dirty="0"/>
              <a:t> и </a:t>
            </a:r>
            <a:r>
              <a:rPr lang="ru-RU" sz="1600" dirty="0" err="1"/>
              <a:t>OdbcDataAdapter</a:t>
            </a:r>
            <a:r>
              <a:rPr lang="ru-RU" sz="1600" dirty="0"/>
              <a:t>. Драйверы ODBC поставляются для всех видов источников данных и конфигурируются через значок </a:t>
            </a:r>
            <a:r>
              <a:rPr lang="ru-RU" sz="1600" dirty="0" err="1"/>
              <a:t>Data</a:t>
            </a:r>
            <a:r>
              <a:rPr lang="ru-RU" sz="1600" dirty="0"/>
              <a:t> </a:t>
            </a:r>
            <a:r>
              <a:rPr lang="ru-RU" sz="1600" dirty="0" err="1"/>
              <a:t>Sources</a:t>
            </a:r>
            <a:r>
              <a:rPr lang="ru-RU" sz="1600" dirty="0"/>
              <a:t> (Источники данных) панели управления</a:t>
            </a:r>
          </a:p>
          <a:p>
            <a:r>
              <a:rPr lang="ru-RU" sz="1600" b="1" dirty="0" err="1"/>
              <a:t>System.Data.SqlTypes</a:t>
            </a:r>
            <a:r>
              <a:rPr lang="en-US" sz="1600" dirty="0"/>
              <a:t> - </a:t>
            </a:r>
            <a:r>
              <a:rPr lang="ru-RU" sz="1600" dirty="0"/>
              <a:t>структуры, соответствующие встроенным типам данных SQL </a:t>
            </a:r>
            <a:r>
              <a:rPr lang="ru-RU" sz="1600" dirty="0" err="1"/>
              <a:t>Server</a:t>
            </a:r>
            <a:r>
              <a:rPr lang="ru-RU" sz="1600" dirty="0"/>
              <a:t>. Эти классы не являются необходимыми, но предоставляют альтернативу применению стандартных типов данных .NET, требующих автоматического преобразования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1120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ADO.NET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" y="1196752"/>
            <a:ext cx="8956231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8528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поставщиков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914400" y="908720"/>
            <a:ext cx="7315200" cy="511108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1800" dirty="0"/>
              <a:t>В основе </a:t>
            </a:r>
            <a:r>
              <a:rPr lang="en-US" sz="1800" dirty="0"/>
              <a:t>ADO.NET </a:t>
            </a:r>
            <a:r>
              <a:rPr lang="ru-RU" sz="1800" dirty="0"/>
              <a:t>лежит модель поставщиков, которая позволяет работать схожим образом с разными источниками данных:</a:t>
            </a:r>
            <a:endParaRPr lang="ru-RU" sz="1600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8434" name="Picture 2" descr="http://www.intuit.ru/department/internet/aspnetvsnet/10/10_0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7136" y="1772816"/>
            <a:ext cx="6961248" cy="45360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объекты поставщиков данных ADO.NET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9" name="Объект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459342"/>
              </p:ext>
            </p:extLst>
          </p:nvPr>
        </p:nvGraphicFramePr>
        <p:xfrm>
          <a:off x="539552" y="836613"/>
          <a:ext cx="7675761" cy="5400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Поставщики - структура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1110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</a:t>
            </a:r>
            <a:r>
              <a:rPr lang="ru-RU" sz="2000" dirty="0"/>
              <a:t>В состав поставщика входят следующие типы объектов:</a:t>
            </a:r>
            <a:endParaRPr lang="en-US" sz="2000" dirty="0"/>
          </a:p>
          <a:p>
            <a:endParaRPr lang="en-US" sz="2000" dirty="0"/>
          </a:p>
          <a:p>
            <a:pPr lvl="0" algn="just"/>
            <a:r>
              <a:rPr lang="ru-RU" sz="2000" b="1" dirty="0" err="1"/>
              <a:t>Connection</a:t>
            </a:r>
            <a:r>
              <a:rPr lang="ru-RU" sz="2000" dirty="0"/>
              <a:t>. Позволяет подключаться к хранилищу данных и отключаться от него.</a:t>
            </a:r>
            <a:r>
              <a:rPr lang="en-US" sz="2000" dirty="0"/>
              <a:t> </a:t>
            </a:r>
            <a:r>
              <a:rPr lang="ru-RU" sz="2000" dirty="0"/>
              <a:t>Объекты подключения обеспечивают доступ к соответствующим объектам транзакций.</a:t>
            </a:r>
          </a:p>
          <a:p>
            <a:pPr lvl="0" algn="just"/>
            <a:r>
              <a:rPr lang="ru-RU" sz="2000" b="1" dirty="0" err="1"/>
              <a:t>Command</a:t>
            </a:r>
            <a:r>
              <a:rPr lang="ru-RU" sz="2000" dirty="0"/>
              <a:t>. Представляет SQL-запрос или хранимую процедуру., предоставляют доступ к объекту чтения данных конкретного поставщика данных.</a:t>
            </a:r>
          </a:p>
          <a:p>
            <a:pPr lvl="0" algn="just"/>
            <a:r>
              <a:rPr lang="ru-RU" sz="2000" b="1" dirty="0" err="1"/>
              <a:t>DataReader</a:t>
            </a:r>
            <a:r>
              <a:rPr lang="ru-RU" sz="2000" dirty="0"/>
              <a:t>. Этот объект предоставляет быстрый опережающий доступ только для чтения к данным, извлеченным по запросу.</a:t>
            </a:r>
          </a:p>
          <a:p>
            <a:pPr lvl="0" algn="just"/>
            <a:r>
              <a:rPr lang="ru-RU" sz="2000" b="1" dirty="0" err="1"/>
              <a:t>DataAdapter</a:t>
            </a:r>
            <a:r>
              <a:rPr lang="ru-RU" sz="2000" dirty="0"/>
              <a:t>. Этот объект выполняет две задачи</a:t>
            </a:r>
            <a:r>
              <a:rPr lang="en-US" sz="2000" dirty="0"/>
              <a:t>:</a:t>
            </a:r>
          </a:p>
          <a:p>
            <a:pPr lvl="1" algn="just"/>
            <a:r>
              <a:rPr lang="ru-RU" sz="2000" dirty="0"/>
              <a:t>наполнение </a:t>
            </a:r>
            <a:r>
              <a:rPr lang="ru-RU" sz="2000" dirty="0" err="1"/>
              <a:t>DataSet</a:t>
            </a:r>
            <a:r>
              <a:rPr lang="ru-RU" sz="2000" dirty="0"/>
              <a:t> (автономная коллекция таблиц и отношений) информацией, извлеченной из источника данных. </a:t>
            </a:r>
            <a:endParaRPr lang="en-US" sz="2000" dirty="0"/>
          </a:p>
          <a:p>
            <a:pPr lvl="1" algn="just"/>
            <a:r>
              <a:rPr lang="ru-RU" sz="2000" dirty="0"/>
              <a:t>применение изменений данных к источнику данных в соответствии с модификациями, произведенными в </a:t>
            </a:r>
            <a:r>
              <a:rPr lang="ru-RU" sz="2000" dirty="0" err="1"/>
              <a:t>DataSet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Поставщики - структура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67544" y="908720"/>
            <a:ext cx="8136904" cy="5111080"/>
          </a:xfrm>
        </p:spPr>
        <p:txBody>
          <a:bodyPr>
            <a:normAutofit/>
          </a:bodyPr>
          <a:lstStyle/>
          <a:p>
            <a:endParaRPr lang="ru-RU" sz="2000" dirty="0"/>
          </a:p>
          <a:p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35" y="1268760"/>
            <a:ext cx="8677875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238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Connection. </a:t>
            </a:r>
            <a:r>
              <a:rPr lang="ru-RU" dirty="0"/>
              <a:t>Соединение с БД в ADO.NET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23528" y="990600"/>
            <a:ext cx="8496944" cy="5257800"/>
          </a:xfrm>
        </p:spPr>
        <p:txBody>
          <a:bodyPr>
            <a:normAutofit lnSpcReduction="10000"/>
          </a:bodyPr>
          <a:lstStyle/>
          <a:p>
            <a:pPr marL="0" indent="363538">
              <a:buNone/>
            </a:pPr>
            <a:r>
              <a:rPr lang="ru-RU" sz="2000" dirty="0"/>
              <a:t>В основе подключения к базе лежит строка соединения:</a:t>
            </a:r>
          </a:p>
          <a:p>
            <a:pPr marL="0" indent="363538">
              <a:buNone/>
            </a:pPr>
            <a:endParaRPr lang="ru-RU" sz="2400" dirty="0"/>
          </a:p>
          <a:p>
            <a:pPr marL="0" indent="363538">
              <a:buNone/>
            </a:pPr>
            <a:endParaRPr lang="ru-RU" sz="2000" b="0" dirty="0">
              <a:latin typeface="Courier New" pitchFamily="49" charset="0"/>
              <a:cs typeface="Courier New" pitchFamily="49" charset="0"/>
            </a:endParaRPr>
          </a:p>
          <a:p>
            <a:pPr marL="0" indent="363538"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  <a:p>
            <a:pPr marL="0" indent="363538">
              <a:buNone/>
            </a:pPr>
            <a:r>
              <a:rPr lang="ru-RU" sz="2000" dirty="0"/>
              <a:t>В зависимости от источника данных строка соединения может включать такие элементы как:</a:t>
            </a:r>
            <a:endParaRPr lang="ru-RU" sz="2000" b="1" dirty="0"/>
          </a:p>
          <a:p>
            <a:pPr marL="0" indent="363538"/>
            <a:r>
              <a:rPr lang="en-US" sz="2400" b="1" dirty="0"/>
              <a:t>Data Source </a:t>
            </a:r>
            <a:r>
              <a:rPr lang="en-US" sz="2400" b="0" dirty="0"/>
              <a:t>– </a:t>
            </a:r>
            <a:r>
              <a:rPr lang="ru-RU" sz="2400" b="0" dirty="0"/>
              <a:t>адрес сервера.</a:t>
            </a:r>
            <a:endParaRPr lang="en-US" sz="2400" b="0" dirty="0"/>
          </a:p>
          <a:p>
            <a:pPr marL="0" indent="363538"/>
            <a:r>
              <a:rPr lang="en-US" sz="2400" b="1" dirty="0"/>
              <a:t>Initial Catalog</a:t>
            </a:r>
            <a:r>
              <a:rPr lang="ru-RU" sz="2400" b="1" dirty="0"/>
              <a:t> </a:t>
            </a:r>
            <a:r>
              <a:rPr lang="ru-RU" sz="2400" b="0" dirty="0"/>
              <a:t>– имя базы.</a:t>
            </a:r>
            <a:endParaRPr lang="en-US" sz="2400" b="0" dirty="0"/>
          </a:p>
          <a:p>
            <a:pPr marL="0" indent="363538"/>
            <a:r>
              <a:rPr lang="en-US" sz="2400" b="1" dirty="0" err="1"/>
              <a:t>AttachDbFilename</a:t>
            </a:r>
            <a:r>
              <a:rPr lang="en-US" sz="2400" b="1" dirty="0"/>
              <a:t> </a:t>
            </a:r>
            <a:r>
              <a:rPr lang="en-US" sz="2400" b="0" dirty="0"/>
              <a:t>– </a:t>
            </a:r>
            <a:r>
              <a:rPr lang="ru-RU" sz="2400" b="0" dirty="0"/>
              <a:t>путь к файлу базы.</a:t>
            </a:r>
          </a:p>
          <a:p>
            <a:pPr marL="0" indent="363538"/>
            <a:r>
              <a:rPr lang="en-US" sz="2400" b="1" dirty="0"/>
              <a:t>Integrated Security</a:t>
            </a:r>
            <a:r>
              <a:rPr lang="ru-RU" sz="2400" b="1" dirty="0"/>
              <a:t> </a:t>
            </a:r>
            <a:r>
              <a:rPr lang="ru-RU" sz="2400" b="0" dirty="0"/>
              <a:t>– аутентиф</a:t>
            </a:r>
            <a:r>
              <a:rPr lang="ru-RU" sz="2400" dirty="0"/>
              <a:t>ик</a:t>
            </a:r>
            <a:r>
              <a:rPr lang="ru-RU" sz="2400" b="0" dirty="0"/>
              <a:t>ация </a:t>
            </a:r>
            <a:r>
              <a:rPr lang="en-US" sz="2400" b="0" dirty="0"/>
              <a:t>Windows.</a:t>
            </a:r>
            <a:endParaRPr lang="ru-RU" sz="2400" b="0" dirty="0"/>
          </a:p>
          <a:p>
            <a:pPr marL="0" indent="363538"/>
            <a:r>
              <a:rPr lang="en-US" sz="2400" b="1" dirty="0"/>
              <a:t>User Id</a:t>
            </a:r>
            <a:r>
              <a:rPr lang="ru-RU" sz="2400" b="1" dirty="0"/>
              <a:t> </a:t>
            </a:r>
            <a:r>
              <a:rPr lang="ru-RU" sz="2400" b="0" dirty="0"/>
              <a:t>– идентификатор пользователя.</a:t>
            </a:r>
          </a:p>
          <a:p>
            <a:pPr marL="0" indent="363538"/>
            <a:r>
              <a:rPr lang="en-US" sz="2400" b="1" dirty="0"/>
              <a:t>Password</a:t>
            </a:r>
            <a:r>
              <a:rPr lang="ru-RU" sz="2400" b="0" dirty="0"/>
              <a:t> – пароль.</a:t>
            </a:r>
          </a:p>
          <a:p>
            <a:pPr marL="0" indent="0">
              <a:buNone/>
            </a:pPr>
            <a:r>
              <a:rPr lang="en-US" sz="2400" b="1" dirty="0">
                <a:hlinkClick r:id="rId2"/>
              </a:rPr>
              <a:t>https://www.connectionstrings.com/</a:t>
            </a:r>
            <a:endParaRPr lang="ru-RU" sz="24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3528" y="1412776"/>
            <a:ext cx="8496944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Data Source=.\SQLEXPRESS;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AttachDbFilename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=|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DataDirectory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|\PUBS.MDF;  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Integrated Security=True;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Connection. </a:t>
            </a:r>
            <a:r>
              <a:rPr lang="ru-RU" sz="2800" dirty="0"/>
              <a:t>Хранение строк соединения. 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23528" y="1219200"/>
            <a:ext cx="8568952" cy="4800600"/>
          </a:xfrm>
        </p:spPr>
        <p:txBody>
          <a:bodyPr/>
          <a:lstStyle/>
          <a:p>
            <a:pPr marL="0" indent="363538">
              <a:buNone/>
            </a:pPr>
            <a:r>
              <a:rPr lang="ru-RU" sz="2000" dirty="0"/>
              <a:t>Строки лучше всего хранить в одном месте, чтобы из любого кода можно было бы просто получить доступ:</a:t>
            </a:r>
            <a:endParaRPr lang="en-US" sz="2000" dirty="0"/>
          </a:p>
          <a:p>
            <a:pPr marL="0" indent="363538">
              <a:buNone/>
            </a:pPr>
            <a:endParaRPr lang="en-US" sz="1800" dirty="0"/>
          </a:p>
          <a:p>
            <a:pPr marL="0" indent="363538">
              <a:buNone/>
            </a:pPr>
            <a:endParaRPr lang="en-US" sz="1800" dirty="0"/>
          </a:p>
          <a:p>
            <a:pPr marL="0" indent="363538">
              <a:buNone/>
            </a:pPr>
            <a:endParaRPr lang="ru-RU" sz="1800" b="1" dirty="0"/>
          </a:p>
          <a:p>
            <a:pPr marL="0" indent="363538">
              <a:buNone/>
            </a:pPr>
            <a:r>
              <a:rPr lang="en-US" sz="2000" b="1" dirty="0" err="1"/>
              <a:t>app.config</a:t>
            </a:r>
            <a:r>
              <a:rPr lang="en-US" sz="2000" b="1" dirty="0"/>
              <a:t> (</a:t>
            </a:r>
            <a:r>
              <a:rPr lang="en-US" sz="2000" b="1" dirty="0" err="1"/>
              <a:t>web.config</a:t>
            </a:r>
            <a:r>
              <a:rPr lang="en-US" sz="2000" b="1" dirty="0"/>
              <a:t>)</a:t>
            </a:r>
            <a:r>
              <a:rPr lang="ru-RU" sz="2000" dirty="0"/>
              <a:t> – специализированный файл конфигурации </a:t>
            </a:r>
            <a:r>
              <a:rPr lang="en-US" sz="2000" dirty="0"/>
              <a:t>Windows (Web)</a:t>
            </a:r>
            <a:r>
              <a:rPr lang="ru-RU" sz="2000" dirty="0"/>
              <a:t>-</a:t>
            </a:r>
            <a:r>
              <a:rPr lang="en-US" sz="2000" dirty="0"/>
              <a:t> </a:t>
            </a:r>
            <a:r>
              <a:rPr lang="ru-RU" sz="2000" dirty="0"/>
              <a:t>приложения, в нем</a:t>
            </a:r>
            <a:r>
              <a:rPr lang="en-US" sz="2000" dirty="0"/>
              <a:t> </a:t>
            </a:r>
            <a:r>
              <a:rPr lang="ru-RU" sz="2000" dirty="0"/>
              <a:t>есть раздел, предназначенный для хранения строк соединения:</a:t>
            </a:r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r>
              <a:rPr lang="ru-RU" sz="2000" dirty="0"/>
              <a:t>Пример строки соединения:</a:t>
            </a:r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9512" y="5210770"/>
            <a:ext cx="8784976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&lt;add name=“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toplivoConnectionString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“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connectionString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="Data Source=.\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sqlexpress;Initial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Catalog=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toplivo;Integrated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Security=True“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providerName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System.Data.SqlClient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" 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12" y="3789040"/>
            <a:ext cx="8568952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connectionStrings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&lt;add … /&gt;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connectionStrings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916832"/>
            <a:ext cx="856895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connectionString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WebConfigurationManager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.ConnectionStrings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toplivoConnectionString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"].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ConnectionString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96597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Connection. </a:t>
            </a:r>
            <a:r>
              <a:rPr lang="ru-RU" sz="2800" dirty="0"/>
              <a:t>Соединение с БД в </a:t>
            </a:r>
            <a:r>
              <a:rPr lang="en-US" sz="2800" dirty="0"/>
              <a:t>ADO</a:t>
            </a:r>
            <a:r>
              <a:rPr lang="ru-RU" sz="2800" dirty="0"/>
              <a:t>.</a:t>
            </a:r>
            <a:r>
              <a:rPr lang="en-US" sz="2800" dirty="0"/>
              <a:t>NET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3168352"/>
          </a:xfrm>
        </p:spPr>
        <p:txBody>
          <a:bodyPr>
            <a:normAutofit/>
          </a:bodyPr>
          <a:lstStyle/>
          <a:p>
            <a:pPr marL="0" indent="363538" algn="just">
              <a:buNone/>
            </a:pPr>
            <a:r>
              <a:rPr lang="ru-RU" sz="2000" dirty="0"/>
              <a:t>Параметры строки необходимо помнить и писать без ошибок, так как эти ошибки будут обнаружены только в момент подключения к</a:t>
            </a:r>
            <a:r>
              <a:rPr lang="en-US" sz="2000" dirty="0"/>
              <a:t> </a:t>
            </a:r>
            <a:r>
              <a:rPr lang="ru-RU" sz="2000" dirty="0"/>
              <a:t>источнику,  но  не  при  компиляции.  В  поставщиках  данных  имеется  специальный класс, унаследованный от </a:t>
            </a:r>
            <a:r>
              <a:rPr lang="ru-RU" sz="2000" b="1" dirty="0" err="1"/>
              <a:t>DbConnectionStringBuilder</a:t>
            </a:r>
            <a:r>
              <a:rPr lang="ru-RU" sz="2000" dirty="0"/>
              <a:t>, который предназначен для построения правильных строк подключения. Типизированные свойства этого класса соответствуют отдельным параметрам строки подключения. </a:t>
            </a:r>
          </a:p>
          <a:p>
            <a:pPr marL="0" indent="363538" algn="just">
              <a:buNone/>
            </a:pPr>
            <a:r>
              <a:rPr lang="ru-RU" sz="2000" dirty="0"/>
              <a:t>Пример демонстрирует использование класса </a:t>
            </a:r>
            <a:r>
              <a:rPr lang="ru-RU" sz="2000" b="1" dirty="0" err="1"/>
              <a:t>SqlConnectionStringBuilder</a:t>
            </a:r>
            <a:r>
              <a:rPr lang="ru-RU" sz="2000" dirty="0"/>
              <a:t>: </a:t>
            </a: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/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8072" y="4235742"/>
            <a:ext cx="8928992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builder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SqlConnectionStringBuilder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 </a:t>
            </a:r>
          </a:p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builder.DataSource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@"(.\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sqlexpress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</a:p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builder.InitialCatalog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toplivo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</a:p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builder.IntegratedSecurity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</a:p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conn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builder.ConnectionString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endParaRPr lang="ru-RU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92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199" y="163404"/>
            <a:ext cx="8229600" cy="715962"/>
          </a:xfrm>
        </p:spPr>
        <p:txBody>
          <a:bodyPr/>
          <a:lstStyle/>
          <a:p>
            <a:r>
              <a:rPr lang="en-US" sz="2800" dirty="0"/>
              <a:t>Connection. </a:t>
            </a:r>
            <a:r>
              <a:rPr lang="ru-RU" sz="2800" dirty="0"/>
              <a:t>Соединение с БД в </a:t>
            </a:r>
            <a:r>
              <a:rPr lang="en-US" sz="2800" dirty="0"/>
              <a:t>ADO</a:t>
            </a:r>
            <a:r>
              <a:rPr lang="ru-RU" sz="2800" dirty="0"/>
              <a:t>.</a:t>
            </a:r>
            <a:r>
              <a:rPr lang="en-US" sz="2800" dirty="0"/>
              <a:t>NET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07504" y="764704"/>
            <a:ext cx="9036496" cy="4536504"/>
          </a:xfrm>
        </p:spPr>
        <p:txBody>
          <a:bodyPr>
            <a:normAutofit fontScale="85000" lnSpcReduction="20000"/>
          </a:bodyPr>
          <a:lstStyle/>
          <a:p>
            <a:pPr marL="0" indent="363538" algn="just">
              <a:buNone/>
            </a:pPr>
            <a:r>
              <a:rPr lang="ru-RU" sz="2000" dirty="0"/>
              <a:t>Имея строку соединения можно подключится к базе данных, используется класс </a:t>
            </a:r>
            <a:r>
              <a:rPr lang="en-US" sz="2000" i="1" dirty="0"/>
              <a:t>Connection</a:t>
            </a:r>
            <a:r>
              <a:rPr lang="en-US" sz="2000" dirty="0"/>
              <a:t>:</a:t>
            </a:r>
            <a:endParaRPr lang="ru-RU" sz="2000" dirty="0"/>
          </a:p>
          <a:p>
            <a:pPr marL="0" indent="363538" algn="just">
              <a:buNone/>
            </a:pPr>
            <a:endParaRPr lang="ru-RU" sz="2000" dirty="0"/>
          </a:p>
          <a:p>
            <a:pPr marL="0" indent="363538" algn="just">
              <a:buNone/>
            </a:pPr>
            <a:endParaRPr lang="ru-RU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dirty="0"/>
              <a:t>Серверы баз данных устанавливают лимит на количество одновременных подключений.  Поэтому  открытые  соединения  </a:t>
            </a:r>
            <a:r>
              <a:rPr lang="ru-RU" sz="2000" b="1" dirty="0"/>
              <a:t>следует  закрывать </a:t>
            </a:r>
            <a:r>
              <a:rPr lang="ru-RU" sz="2000" dirty="0"/>
              <a:t>после использования</a:t>
            </a:r>
            <a:r>
              <a:rPr lang="en-US" sz="2000" dirty="0"/>
              <a:t>. </a:t>
            </a:r>
            <a:r>
              <a:rPr lang="ru-RU" sz="2000" dirty="0"/>
              <a:t>Для этого применяется метод </a:t>
            </a:r>
            <a:r>
              <a:rPr lang="ru-RU" sz="2000" b="1" i="1" dirty="0" err="1"/>
              <a:t>Close</a:t>
            </a:r>
            <a:r>
              <a:rPr lang="ru-RU" sz="2000" i="1" dirty="0"/>
              <a:t>()</a:t>
            </a:r>
            <a:r>
              <a:rPr lang="en-US" sz="2000" dirty="0"/>
              <a:t> </a:t>
            </a:r>
            <a:r>
              <a:rPr lang="ru-RU" sz="2000" dirty="0"/>
              <a:t>или метод </a:t>
            </a:r>
            <a:r>
              <a:rPr lang="ru-RU" sz="2000" b="1" i="1" dirty="0" err="1"/>
              <a:t>Dispose</a:t>
            </a:r>
            <a:r>
              <a:rPr lang="ru-RU" sz="2000" i="1" dirty="0"/>
              <a:t>()</a:t>
            </a:r>
            <a:r>
              <a:rPr lang="en-US" sz="2000" i="1" dirty="0"/>
              <a:t> </a:t>
            </a:r>
            <a:r>
              <a:rPr lang="ru-RU" sz="2000" dirty="0"/>
              <a:t>, являющийся реализацией интерфейса </a:t>
            </a:r>
            <a:r>
              <a:rPr lang="ru-RU" sz="2000" i="1" dirty="0" err="1"/>
              <a:t>IDisposable</a:t>
            </a:r>
            <a:r>
              <a:rPr lang="en-US" sz="2000" dirty="0"/>
              <a:t>. </a:t>
            </a:r>
            <a:r>
              <a:rPr lang="ru-RU" sz="2000" dirty="0"/>
              <a:t>Использование </a:t>
            </a:r>
            <a:r>
              <a:rPr lang="ru-RU" sz="2000" b="1" i="1" dirty="0" err="1"/>
              <a:t>using</a:t>
            </a:r>
            <a:r>
              <a:rPr lang="ru-RU" sz="2000" dirty="0"/>
              <a:t> гарантирует вызов </a:t>
            </a:r>
            <a:r>
              <a:rPr lang="ru-RU" sz="2000" i="1" dirty="0" err="1"/>
              <a:t>connection.</a:t>
            </a:r>
            <a:r>
              <a:rPr lang="ru-RU" sz="2000" b="1" i="1" dirty="0" err="1"/>
              <a:t>Dispose</a:t>
            </a:r>
            <a:r>
              <a:rPr lang="ru-RU" sz="2000" i="1" dirty="0"/>
              <a:t>()</a:t>
            </a:r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ru-RU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/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2725" y="1252730"/>
            <a:ext cx="8604448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SqlConnection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conn =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SqlConnection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connString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try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conn.Open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…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finally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conn.Close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 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729" y="5013176"/>
            <a:ext cx="853244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conn =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SqlConnection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connString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))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conn.Open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ru-RU" sz="16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работа с соединением</a:t>
            </a:r>
            <a:endParaRPr lang="ru-RU" sz="16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36381" y="77455"/>
            <a:ext cx="8450418" cy="715962"/>
          </a:xfrm>
        </p:spPr>
        <p:txBody>
          <a:bodyPr/>
          <a:lstStyle/>
          <a:p>
            <a:r>
              <a:rPr lang="en-US" sz="2800" dirty="0"/>
              <a:t>Connection. </a:t>
            </a:r>
            <a:r>
              <a:rPr lang="ru-RU" sz="2800" dirty="0"/>
              <a:t>Обработка ошибок соединения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59532" y="692696"/>
            <a:ext cx="8568952" cy="2379652"/>
          </a:xfrm>
        </p:spPr>
        <p:txBody>
          <a:bodyPr>
            <a:normAutofit/>
          </a:bodyPr>
          <a:lstStyle/>
          <a:p>
            <a:pPr marL="0" indent="363538" algn="just">
              <a:buNone/>
            </a:pPr>
            <a:r>
              <a:rPr lang="ru-RU" sz="2000" dirty="0"/>
              <a:t> Обычно  при возникновении ошибки источника на клиенте генерируется исключительная ситуация особого типа, специфичного для  каждого  поставщика  данных.  </a:t>
            </a:r>
          </a:p>
          <a:p>
            <a:pPr marL="0" indent="363538" algn="just">
              <a:buNone/>
            </a:pPr>
            <a:r>
              <a:rPr lang="ru-RU" sz="2000" dirty="0"/>
              <a:t>Например,  для  поставщика  </a:t>
            </a:r>
            <a:r>
              <a:rPr lang="ru-RU" sz="2000" i="1" dirty="0"/>
              <a:t>SQL  </a:t>
            </a:r>
            <a:r>
              <a:rPr lang="ru-RU" sz="2000" i="1" dirty="0" err="1"/>
              <a:t>Server</a:t>
            </a:r>
            <a:r>
              <a:rPr lang="ru-RU" sz="2000" dirty="0"/>
              <a:t>  это исключение  типа </a:t>
            </a:r>
            <a:r>
              <a:rPr lang="ru-RU" sz="2000" b="1" i="1" dirty="0" err="1"/>
              <a:t>SqlException</a:t>
            </a:r>
            <a:r>
              <a:rPr lang="ru-RU" sz="2000" dirty="0"/>
              <a:t>. В  объекте </a:t>
            </a:r>
            <a:r>
              <a:rPr lang="ru-RU" sz="2000" i="1" dirty="0" err="1"/>
              <a:t>SqlException</a:t>
            </a:r>
            <a:r>
              <a:rPr lang="ru-RU" sz="2000" dirty="0"/>
              <a:t> доступно  свойство </a:t>
            </a:r>
            <a:r>
              <a:rPr lang="ru-RU" sz="2000" i="1" dirty="0" err="1"/>
              <a:t>Errors</a:t>
            </a:r>
            <a:r>
              <a:rPr lang="ru-RU" sz="2000" dirty="0"/>
              <a:t> – набор объектов типа </a:t>
            </a:r>
            <a:r>
              <a:rPr lang="ru-RU" sz="2000" b="1" i="1" dirty="0" err="1"/>
              <a:t>SqlError</a:t>
            </a:r>
            <a:r>
              <a:rPr lang="ru-RU" sz="2000" dirty="0"/>
              <a:t>. В этих объектах содержится дополнительная информация об ошибке: </a:t>
            </a: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>
              <a:buNone/>
            </a:pPr>
            <a:endParaRPr lang="ru-RU" sz="2000" dirty="0"/>
          </a:p>
          <a:p>
            <a:pPr marL="0" indent="363538" algn="just">
              <a:buNone/>
            </a:pPr>
            <a:endParaRPr lang="en-US" sz="2000" dirty="0"/>
          </a:p>
          <a:p>
            <a:pPr marL="0" indent="363538" algn="just"/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102" y="2969711"/>
            <a:ext cx="8859382" cy="38108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try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ru-RU" sz="16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действия, которые могут вызвать ошибку </a:t>
            </a:r>
            <a:endParaRPr lang="ru-RU" sz="16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catch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SqlException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ex)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error =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ex.Message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"\n"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foreach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SqlError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err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ex.Errors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{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error +=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"Message: 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err.Message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"\n"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"Level: 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err.Class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"\n"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"Procedure: 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err.Procedure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"\n"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"Line Number: 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err.LineNumber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"\n"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}</a:t>
            </a:r>
          </a:p>
          <a:p>
            <a:r>
              <a:rPr lang="ru-RU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971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Command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67544" y="836712"/>
            <a:ext cx="8352928" cy="5760640"/>
          </a:xfrm>
        </p:spPr>
        <p:txBody>
          <a:bodyPr/>
          <a:lstStyle/>
          <a:p>
            <a:pPr marL="0" indent="363538">
              <a:buNone/>
            </a:pPr>
            <a:r>
              <a:rPr lang="ru-RU" sz="2000" dirty="0"/>
              <a:t>Класс </a:t>
            </a:r>
            <a:r>
              <a:rPr lang="ru-RU" sz="2000" b="1" dirty="0" err="1"/>
              <a:t>Command</a:t>
            </a:r>
            <a:r>
              <a:rPr lang="ru-RU" sz="2000" dirty="0"/>
              <a:t> позволяет выполнить SQL-оператор любого типа</a:t>
            </a:r>
            <a:r>
              <a:rPr lang="en-US" sz="2000" dirty="0"/>
              <a:t> (</a:t>
            </a:r>
            <a:r>
              <a:rPr lang="en-US" sz="2000" i="1" dirty="0"/>
              <a:t>Create, Select, Update, Delete</a:t>
            </a:r>
            <a:r>
              <a:rPr lang="en-US" sz="2000" dirty="0"/>
              <a:t>):	</a:t>
            </a:r>
          </a:p>
          <a:p>
            <a:pPr marL="0" indent="363538">
              <a:buNone/>
            </a:pPr>
            <a:endParaRPr lang="en-US" sz="2000" dirty="0"/>
          </a:p>
          <a:p>
            <a:pPr marL="0" indent="363538">
              <a:buNone/>
            </a:pPr>
            <a:endParaRPr lang="en-US" sz="2000" dirty="0"/>
          </a:p>
          <a:p>
            <a:pPr marL="0" indent="363538">
              <a:buNone/>
            </a:pPr>
            <a:endParaRPr lang="ru-RU" sz="2000" dirty="0"/>
          </a:p>
          <a:p>
            <a:pPr marL="0" indent="363538">
              <a:buNone/>
            </a:pPr>
            <a:r>
              <a:rPr lang="ru-RU" sz="2000" dirty="0"/>
              <a:t>Для выполнения оператора надо указать тип команды:</a:t>
            </a:r>
          </a:p>
          <a:p>
            <a:pPr marL="0" indent="363538" algn="just"/>
            <a:r>
              <a:rPr lang="ru-RU" sz="2000" b="1" i="1" dirty="0" err="1"/>
              <a:t>Text</a:t>
            </a:r>
            <a:r>
              <a:rPr lang="ru-RU" sz="2000" dirty="0"/>
              <a:t> - Команда будет выполнять прямой оператор SQL. Оператор SQL указывается в свойстве </a:t>
            </a:r>
            <a:r>
              <a:rPr lang="ru-RU" sz="2000" dirty="0" err="1"/>
              <a:t>CommandText</a:t>
            </a:r>
            <a:r>
              <a:rPr lang="ru-RU" sz="2000" dirty="0"/>
              <a:t>. Это — значение по умолчанию.</a:t>
            </a:r>
          </a:p>
          <a:p>
            <a:pPr marL="0" indent="363538" algn="just"/>
            <a:r>
              <a:rPr lang="ru-RU" sz="2000" b="1" i="1" dirty="0" err="1"/>
              <a:t>StoredProcedure</a:t>
            </a:r>
            <a:r>
              <a:rPr lang="ru-RU" sz="2000" dirty="0"/>
              <a:t>  - Эта команда будет выполнять хранимую процедуру в источнике данных. Свойство </a:t>
            </a:r>
            <a:r>
              <a:rPr lang="ru-RU" sz="2000" dirty="0" err="1"/>
              <a:t>CommandText</a:t>
            </a:r>
            <a:r>
              <a:rPr lang="ru-RU" sz="2000" dirty="0"/>
              <a:t> представляет имя хранимой процедуры.</a:t>
            </a:r>
          </a:p>
          <a:p>
            <a:pPr marL="0" indent="363538" algn="just"/>
            <a:r>
              <a:rPr lang="ru-RU" sz="2000" b="1" i="1" dirty="0" err="1"/>
              <a:t>TableDirect</a:t>
            </a:r>
            <a:r>
              <a:rPr lang="ru-RU" sz="2000" dirty="0"/>
              <a:t> - Команда будет опрашивать все записи таблицы. </a:t>
            </a:r>
            <a:r>
              <a:rPr lang="ru-RU" sz="2000" dirty="0" err="1"/>
              <a:t>CommandText</a:t>
            </a:r>
            <a:r>
              <a:rPr lang="ru-RU" sz="2000" dirty="0"/>
              <a:t> — имя таблицы, из которой команда извлечет все записи.</a:t>
            </a:r>
          </a:p>
          <a:p>
            <a:pPr marL="0" indent="363538">
              <a:buNone/>
            </a:pP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7504" y="1628800"/>
            <a:ext cx="8784976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com = new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("Select * from Customer"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conn);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531536" y="332656"/>
            <a:ext cx="8579296" cy="990600"/>
          </a:xfrm>
        </p:spPr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Command. </a:t>
            </a:r>
            <a:r>
              <a:rPr lang="ru-RU" dirty="0"/>
              <a:t>Возможные значения перечисления </a:t>
            </a:r>
            <a:r>
              <a:rPr lang="en-US" dirty="0" err="1"/>
              <a:t>CommandType</a:t>
            </a:r>
            <a:endParaRPr lang="ru-RU" dirty="0"/>
          </a:p>
        </p:txBody>
      </p:sp>
      <p:graphicFrame>
        <p:nvGraphicFramePr>
          <p:cNvPr id="2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94531"/>
              </p:ext>
            </p:extLst>
          </p:nvPr>
        </p:nvGraphicFramePr>
        <p:xfrm>
          <a:off x="0" y="1556792"/>
          <a:ext cx="9110832" cy="4182057"/>
        </p:xfrm>
        <a:graphic>
          <a:graphicData uri="http://schemas.openxmlformats.org/drawingml/2006/table">
            <a:tbl>
              <a:tblPr/>
              <a:tblGrid>
                <a:gridCol w="209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63">
                <a:tc>
                  <a:txBody>
                    <a:bodyPr/>
                    <a:lstStyle/>
                    <a:p>
                      <a:r>
                        <a:rPr lang="ru-RU" sz="2100" b="1" dirty="0"/>
                        <a:t>Значение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100" b="1" dirty="0"/>
                        <a:t>Пример </a:t>
                      </a:r>
                      <a:r>
                        <a:rPr lang="en-US" sz="2100" b="1" dirty="0"/>
                        <a:t>SQL-</a:t>
                      </a:r>
                      <a:r>
                        <a:rPr lang="ru-RU" sz="2100" b="1" dirty="0"/>
                        <a:t>запроса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099">
                <a:tc>
                  <a:txBody>
                    <a:bodyPr/>
                    <a:lstStyle/>
                    <a:p>
                      <a:r>
                        <a:rPr lang="en-US" sz="2100" b="1" dirty="0"/>
                        <a:t>Text</a:t>
                      </a:r>
                      <a:r>
                        <a:rPr lang="en-US" sz="2100" dirty="0"/>
                        <a:t> (</a:t>
                      </a:r>
                      <a:r>
                        <a:rPr lang="ru-RU" sz="2100" dirty="0"/>
                        <a:t>по умолчанию)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string select = "SELECT </a:t>
                      </a:r>
                      <a:r>
                        <a:rPr lang="en-US" sz="2100" dirty="0" err="1"/>
                        <a:t>ContactName</a:t>
                      </a:r>
                      <a:r>
                        <a:rPr lang="en-US" sz="2100" dirty="0"/>
                        <a:t> FROM Customers";</a:t>
                      </a:r>
                      <a:br>
                        <a:rPr lang="en-US" sz="2100" dirty="0"/>
                      </a:br>
                      <a:r>
                        <a:rPr lang="en-US" sz="2100" dirty="0" err="1">
                          <a:solidFill>
                            <a:schemeClr val="tx1"/>
                          </a:solidFill>
                        </a:rPr>
                        <a:t>SqlCommand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100" dirty="0" err="1"/>
                        <a:t>cmd</a:t>
                      </a:r>
                      <a:r>
                        <a:rPr lang="en-US" sz="2100" dirty="0"/>
                        <a:t> = new </a:t>
                      </a:r>
                      <a:r>
                        <a:rPr lang="en-US" sz="2100" dirty="0" err="1"/>
                        <a:t>SqlCommand</a:t>
                      </a:r>
                      <a:r>
                        <a:rPr lang="en-US" sz="2100" dirty="0"/>
                        <a:t>(select, c</a:t>
                      </a:r>
                      <a:r>
                        <a:rPr lang="ru-RU" sz="2100" dirty="0"/>
                        <a:t>о</a:t>
                      </a:r>
                      <a:r>
                        <a:rPr lang="en-US" sz="2100" dirty="0" err="1"/>
                        <a:t>nn</a:t>
                      </a:r>
                      <a:r>
                        <a:rPr lang="en-US" sz="2100" dirty="0"/>
                        <a:t>); 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135">
                <a:tc>
                  <a:txBody>
                    <a:bodyPr/>
                    <a:lstStyle/>
                    <a:p>
                      <a:r>
                        <a:rPr lang="en-US" sz="2100" b="1" dirty="0" err="1"/>
                        <a:t>StoredProcedure</a:t>
                      </a:r>
                      <a:endParaRPr lang="en-US" sz="2100" dirty="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solidFill>
                            <a:schemeClr val="tx1"/>
                          </a:solidFill>
                        </a:rPr>
                        <a:t>SqlCommand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100" dirty="0" err="1"/>
                        <a:t>cmd</a:t>
                      </a:r>
                      <a:r>
                        <a:rPr lang="en-US" sz="2100" dirty="0"/>
                        <a:t> = new </a:t>
                      </a:r>
                      <a:r>
                        <a:rPr lang="en-US" sz="2100" dirty="0" err="1"/>
                        <a:t>SqlCommand</a:t>
                      </a:r>
                      <a:r>
                        <a:rPr lang="en-US" sz="2100" dirty="0"/>
                        <a:t>("</a:t>
                      </a:r>
                      <a:r>
                        <a:rPr lang="en-US" sz="2100" dirty="0" err="1"/>
                        <a:t>CustOrderHist</a:t>
                      </a:r>
                      <a:r>
                        <a:rPr lang="en-US" sz="2100" dirty="0"/>
                        <a:t>", conn);</a:t>
                      </a:r>
                      <a:br>
                        <a:rPr lang="en-US" sz="2100" dirty="0"/>
                      </a:br>
                      <a:r>
                        <a:rPr lang="en-US" sz="2100" dirty="0" err="1"/>
                        <a:t>cmd.CommandType</a:t>
                      </a:r>
                      <a:r>
                        <a:rPr lang="en-US" sz="2100" dirty="0"/>
                        <a:t> = </a:t>
                      </a:r>
                      <a:r>
                        <a:rPr lang="en-US" sz="2100" dirty="0" err="1"/>
                        <a:t>CommandType.StoredProcedure</a:t>
                      </a:r>
                      <a:r>
                        <a:rPr lang="en-US" sz="2100" dirty="0"/>
                        <a:t>;</a:t>
                      </a:r>
                      <a:br>
                        <a:rPr lang="en-US" sz="2100" dirty="0"/>
                      </a:br>
                      <a:r>
                        <a:rPr lang="en-US" sz="2100" dirty="0" err="1"/>
                        <a:t>cmd.Parameters.AddWithValue</a:t>
                      </a:r>
                      <a:r>
                        <a:rPr lang="en-US" sz="2100" dirty="0"/>
                        <a:t>("@</a:t>
                      </a:r>
                      <a:r>
                        <a:rPr lang="en-US" sz="2100" dirty="0" err="1"/>
                        <a:t>CustomerID</a:t>
                      </a:r>
                      <a:r>
                        <a:rPr lang="en-US" sz="2100" dirty="0"/>
                        <a:t>", "QUICK");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5135">
                <a:tc>
                  <a:txBody>
                    <a:bodyPr/>
                    <a:lstStyle/>
                    <a:p>
                      <a:r>
                        <a:rPr lang="en-US" sz="2100" b="1" dirty="0" err="1"/>
                        <a:t>TableDirect</a:t>
                      </a:r>
                      <a:endParaRPr lang="en-US" sz="2100" dirty="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solidFill>
                            <a:schemeClr val="tx1"/>
                          </a:solidFill>
                        </a:rPr>
                        <a:t>OleDbCommand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100" dirty="0" err="1"/>
                        <a:t>cmd</a:t>
                      </a:r>
                      <a:r>
                        <a:rPr lang="en-US" sz="2100" dirty="0"/>
                        <a:t> = new </a:t>
                      </a:r>
                      <a:r>
                        <a:rPr lang="en-US" sz="2100" dirty="0" err="1"/>
                        <a:t>OleDbCommand</a:t>
                      </a:r>
                      <a:r>
                        <a:rPr lang="en-US" sz="2100" dirty="0"/>
                        <a:t>("Categories", conn);</a:t>
                      </a:r>
                      <a:br>
                        <a:rPr lang="en-US" sz="2100" dirty="0"/>
                      </a:br>
                      <a:r>
                        <a:rPr lang="en-US" sz="2100" dirty="0" err="1"/>
                        <a:t>cmd.CommandType</a:t>
                      </a:r>
                      <a:r>
                        <a:rPr lang="en-US" sz="2100" dirty="0"/>
                        <a:t> = </a:t>
                      </a:r>
                      <a:r>
                        <a:rPr lang="en-US" sz="2100" dirty="0" err="1"/>
                        <a:t>CommandType.TableDirect</a:t>
                      </a:r>
                      <a:r>
                        <a:rPr lang="en-US" sz="2100" dirty="0"/>
                        <a:t>;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63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Класс </a:t>
            </a:r>
            <a:r>
              <a:rPr lang="en-US" sz="3200" dirty="0"/>
              <a:t>Command</a:t>
            </a:r>
            <a:endParaRPr lang="ru-RU" sz="32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23528" y="857250"/>
            <a:ext cx="8517632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000" dirty="0"/>
              <a:t>После того как заданны все параметры для объекта </a:t>
            </a:r>
            <a:r>
              <a:rPr lang="en-US" sz="2000" dirty="0"/>
              <a:t>Command</a:t>
            </a:r>
            <a:r>
              <a:rPr lang="ru-RU" sz="2000" dirty="0"/>
              <a:t>, его можно выполнить одним из 3-х методов:</a:t>
            </a:r>
          </a:p>
          <a:p>
            <a:pPr marL="0" indent="363538" algn="just"/>
            <a:r>
              <a:rPr lang="ru-RU" sz="1800" b="1" i="1" dirty="0" err="1"/>
              <a:t>ExecuteNonQuery</a:t>
            </a:r>
            <a:r>
              <a:rPr lang="ru-RU" sz="1800" b="1" i="1" dirty="0"/>
              <a:t>()</a:t>
            </a:r>
            <a:r>
              <a:rPr lang="ru-RU" sz="1800" b="1" dirty="0"/>
              <a:t> </a:t>
            </a:r>
            <a:r>
              <a:rPr lang="ru-RU" sz="1800" dirty="0"/>
              <a:t>- Выполняет команды, отличные от SELECT, такие как SQL-операторы вставки, удаления или обновления записей. Возвращенное значение означает количество строк, обработанных командой. Также вы может использоваться для выполнения команд которые создают, изменяют и уничтожают объекты базы данных;</a:t>
            </a:r>
          </a:p>
          <a:p>
            <a:pPr marL="0" indent="363538" algn="just"/>
            <a:r>
              <a:rPr lang="ru-RU" sz="1800" b="1" i="1" dirty="0" err="1"/>
              <a:t>ExecuteScalar</a:t>
            </a:r>
            <a:r>
              <a:rPr lang="ru-RU" sz="1800" b="1" i="1" dirty="0"/>
              <a:t>() </a:t>
            </a:r>
            <a:r>
              <a:rPr lang="ru-RU" sz="1800" dirty="0"/>
              <a:t>- Выполняет запрос SELECT и возвращает значение первого поля первой строки из набора строк, сгенерированного командой. Обычно применяется при выполнении агрегатной команды SELECT (вроде COUNT() или SUM() и др.);</a:t>
            </a:r>
          </a:p>
          <a:p>
            <a:pPr marL="0" indent="363538" algn="just"/>
            <a:r>
              <a:rPr lang="ru-RU" sz="1800" b="1" i="1" dirty="0" err="1"/>
              <a:t>ExecuteReader</a:t>
            </a:r>
            <a:r>
              <a:rPr lang="ru-RU" sz="1800" b="1" i="1" dirty="0"/>
              <a:t>() </a:t>
            </a:r>
            <a:r>
              <a:rPr lang="ru-RU" sz="1800" dirty="0"/>
              <a:t>- Выполняет запрос SELECT и возвращает объект </a:t>
            </a:r>
            <a:r>
              <a:rPr lang="ru-RU" sz="1800" dirty="0" err="1"/>
              <a:t>DataReader</a:t>
            </a:r>
            <a:r>
              <a:rPr lang="ru-RU" sz="1800" dirty="0"/>
              <a:t>, который является оболочкой однонаправленного курсора, доступного только для чтения.</a:t>
            </a:r>
            <a:endParaRPr lang="en-US" sz="1800" dirty="0"/>
          </a:p>
          <a:p>
            <a:pPr marL="0" indent="363538" algn="just">
              <a:buNone/>
            </a:pPr>
            <a:r>
              <a:rPr lang="ru-RU" sz="1800" dirty="0"/>
              <a:t>Пример выполнения команды:</a:t>
            </a:r>
          </a:p>
          <a:p>
            <a:pPr marL="0" indent="363538">
              <a:buNone/>
            </a:pPr>
            <a:endParaRPr lang="ru-RU" sz="1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0852" y="5491459"/>
            <a:ext cx="82296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SqlDataReader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com.ExecuteReader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Класс </a:t>
            </a:r>
            <a:r>
              <a:rPr lang="en-US" sz="2800" dirty="0"/>
              <a:t>Command</a:t>
            </a:r>
            <a:r>
              <a:rPr lang="ru-RU" sz="2800" dirty="0"/>
              <a:t>. </a:t>
            </a:r>
            <a:r>
              <a:rPr lang="en-US" sz="2800" dirty="0" err="1"/>
              <a:t>ExecuteNonQuery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0" y="1219200"/>
            <a:ext cx="9252520" cy="48006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/>
              <a:t>Метод </a:t>
            </a:r>
            <a:r>
              <a:rPr lang="ru-RU" sz="2400" b="1" dirty="0" err="1"/>
              <a:t>ExecuteNonQuery</a:t>
            </a:r>
            <a:r>
              <a:rPr lang="ru-RU" sz="2400" b="1" dirty="0"/>
              <a:t>()</a:t>
            </a:r>
            <a:r>
              <a:rPr lang="ru-RU" sz="2400" dirty="0"/>
              <a:t> обычно используется для операторов UPDATE, INSERT или DELETE, где единственным возвращаемым значением является количество обработанных строк. Однако метод может вернуть результаты, если осуществляется вызов хранимой процедуры с выходными параметрами.</a:t>
            </a:r>
            <a:endParaRPr lang="ru-RU" sz="24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lnSpc>
                <a:spcPts val="1800"/>
              </a:lnSpc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24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4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"UPDATE Customers </a:t>
            </a:r>
            <a:endParaRPr lang="ru-RU" sz="2400" b="1" dirty="0">
              <a:solidFill>
                <a:srgbClr val="A31515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SET </a:t>
            </a:r>
            <a:r>
              <a:rPr lang="en-US" sz="2400" b="1" dirty="0" err="1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LastName</a:t>
            </a:r>
            <a:r>
              <a:rPr lang="en-US" sz="24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 = 'Johnson’ </a:t>
            </a:r>
            <a:endParaRPr lang="ru-RU" sz="2400" b="1" dirty="0">
              <a:solidFill>
                <a:srgbClr val="A31515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WHERE </a:t>
            </a:r>
            <a:r>
              <a:rPr lang="en-US" sz="2400" b="1" dirty="0" err="1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LastName</a:t>
            </a:r>
            <a:r>
              <a:rPr lang="en-US" sz="24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 = 'Walton'"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ru-RU" sz="2400" b="1" dirty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24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strSQL,conn</a:t>
            </a:r>
            <a:r>
              <a:rPr lang="en-US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ru-RU" sz="24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2400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int</a:t>
            </a:r>
            <a:r>
              <a:rPr lang="ru-RU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i = </a:t>
            </a:r>
            <a:r>
              <a:rPr lang="ru-RU" sz="2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myCommand.ExecuteNonQuery</a:t>
            </a:r>
            <a:r>
              <a:rPr lang="ru-RU" sz="2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();</a:t>
            </a:r>
            <a:endParaRPr lang="ru-RU" sz="2400" b="1" dirty="0">
              <a:latin typeface="Calibri"/>
              <a:ea typeface="Calibri"/>
              <a:cs typeface="Times New Roman"/>
            </a:endParaRPr>
          </a:p>
          <a:p>
            <a:pPr marL="0" indent="363538">
              <a:buNone/>
            </a:pPr>
            <a:endParaRPr lang="ru-RU" sz="2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00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Класс </a:t>
            </a:r>
            <a:r>
              <a:rPr lang="en-US" sz="2800" dirty="0"/>
              <a:t>Command</a:t>
            </a:r>
            <a:r>
              <a:rPr lang="ru-RU" sz="2800" dirty="0"/>
              <a:t>. </a:t>
            </a:r>
            <a:r>
              <a:rPr lang="en-US" sz="2800" dirty="0" err="1"/>
              <a:t>ExecuteScalar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07504" y="1219200"/>
            <a:ext cx="8928992" cy="48006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000" dirty="0"/>
              <a:t>Метод </a:t>
            </a:r>
            <a:r>
              <a:rPr lang="ru-RU" sz="2000" b="1" dirty="0" err="1"/>
              <a:t>ExecuteScalar</a:t>
            </a:r>
            <a:r>
              <a:rPr lang="ru-RU" sz="2000" dirty="0"/>
              <a:t> объекта </a:t>
            </a:r>
            <a:r>
              <a:rPr lang="ru-RU" sz="2000" dirty="0" err="1"/>
              <a:t>Command</a:t>
            </a:r>
            <a:r>
              <a:rPr lang="ru-RU" sz="2000" dirty="0"/>
              <a:t> выполняет запрос и возвращает первый столбец первой строки результирующего набора, возвращаемого запросом. Применяется для запросов, возвращающих одно значение. Такие запросы возникают, например, при использовании агрегатных функций COUNT, MIN, MAX.</a:t>
            </a:r>
            <a:endParaRPr lang="ru-RU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1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string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1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"SELECT COUNT (*) FROM Inventory"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ru-RU" sz="21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1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new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conn);</a:t>
            </a:r>
            <a:endParaRPr lang="ru-RU" sz="21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1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int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countInv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myCommand.ExecuteScalar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();</a:t>
            </a:r>
            <a:endParaRPr lang="ru-RU" sz="21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Console.WriteLine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100" b="1" dirty="0">
                <a:solidFill>
                  <a:srgbClr val="A31515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lang="ru-RU" sz="2100" b="1" dirty="0">
                <a:solidFill>
                  <a:srgbClr val="A31515"/>
                </a:solidFill>
                <a:latin typeface="Times New Roman"/>
                <a:ea typeface="Times New Roman"/>
                <a:cs typeface="Times New Roman"/>
              </a:rPr>
              <a:t>Количество записей</a:t>
            </a:r>
            <a:r>
              <a:rPr lang="en-US" sz="2100" b="1" dirty="0">
                <a:solidFill>
                  <a:srgbClr val="A31515"/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lang="ru-RU" sz="2100" b="1" dirty="0">
                <a:solidFill>
                  <a:srgbClr val="A3151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+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Convert.ToString</a:t>
            </a:r>
            <a:r>
              <a:rPr lang="ru-RU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1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countInv</a:t>
            </a:r>
            <a:r>
              <a:rPr lang="ru-RU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21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ru-RU" sz="2100" b="1" dirty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 marL="0" indent="363538"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66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Класс </a:t>
            </a:r>
            <a:r>
              <a:rPr lang="en-US" sz="2800" dirty="0"/>
              <a:t>Command. </a:t>
            </a:r>
            <a:r>
              <a:rPr lang="en-US" sz="2800" dirty="0" err="1"/>
              <a:t>ExecuteReader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251520" y="1124744"/>
            <a:ext cx="9036496" cy="48006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000" dirty="0"/>
              <a:t>Метод </a:t>
            </a:r>
            <a:r>
              <a:rPr lang="ru-RU" sz="2000" b="1" dirty="0" err="1"/>
              <a:t>ExecuteReader</a:t>
            </a:r>
            <a:r>
              <a:rPr lang="ru-RU" sz="2000" b="1" dirty="0"/>
              <a:t>()</a:t>
            </a:r>
            <a:r>
              <a:rPr lang="ru-RU" sz="2000" dirty="0"/>
              <a:t> выполняет команду и возвращает типизированный объект-читатель данных, в зависимости от используемого поставщика. Возвращенный объект может применяться для итерации по возвращенным записям.</a:t>
            </a:r>
            <a:endParaRPr lang="en-US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000" dirty="0">
              <a:solidFill>
                <a:srgbClr val="0000FF"/>
              </a:solidFill>
              <a:latin typeface="Courier New"/>
              <a:ea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0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"SELECT * FROM Inventory"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ru-RU" sz="20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new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SqlCommand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strSQL,conn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ru-RU" sz="20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SqlDataReader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dr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myCommand.ExecuteReader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();</a:t>
            </a:r>
            <a:endParaRPr lang="ru-RU" sz="20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while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dr.Read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())</a:t>
            </a:r>
            <a:endParaRPr lang="ru-RU" sz="20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Console.WriteLine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/>
                <a:ea typeface="Times New Roman"/>
                <a:cs typeface="Times New Roman"/>
              </a:rPr>
              <a:t>"ID: {0} Car Pet Name: {1}"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dr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[0],</a:t>
            </a:r>
            <a:r>
              <a:rPr lang="en-US" sz="20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dr</a:t>
            </a:r>
            <a:r>
              <a:rPr lang="en-US" sz="20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[3]);</a:t>
            </a:r>
            <a:endParaRPr lang="ru-RU" sz="2000" b="1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dirty="0">
                <a:latin typeface="Calibri"/>
                <a:ea typeface="Calibri"/>
                <a:cs typeface="Times New Roman"/>
              </a:rPr>
              <a:t> </a:t>
            </a:r>
            <a:endParaRPr lang="ru-RU" sz="2000" dirty="0">
              <a:latin typeface="Calibri"/>
              <a:ea typeface="Calibri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38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07504" y="46686"/>
            <a:ext cx="8856984" cy="715962"/>
          </a:xfrm>
        </p:spPr>
        <p:txBody>
          <a:bodyPr/>
          <a:lstStyle/>
          <a:p>
            <a:r>
              <a:rPr lang="ru-RU" sz="2800" dirty="0"/>
              <a:t>Класс </a:t>
            </a:r>
            <a:r>
              <a:rPr lang="en-US" sz="2800" dirty="0"/>
              <a:t>Command. </a:t>
            </a:r>
            <a:r>
              <a:rPr lang="ru-RU" sz="2800" dirty="0"/>
              <a:t>Параметризированные запросы</a:t>
            </a:r>
            <a:r>
              <a:rPr lang="en-US" sz="2800" dirty="0"/>
              <a:t>.</a:t>
            </a:r>
            <a:endParaRPr lang="ru-RU" sz="28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520" y="3796016"/>
            <a:ext cx="497348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908720"/>
            <a:ext cx="828092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protected void </a:t>
            </a:r>
            <a:r>
              <a:rPr lang="en-US" sz="1400" b="1" dirty="0" err="1"/>
              <a:t>cmdGetRecords_Click</a:t>
            </a:r>
            <a:r>
              <a:rPr lang="en-US" sz="1400" b="1" dirty="0"/>
              <a:t>(object sender, </a:t>
            </a:r>
            <a:r>
              <a:rPr lang="en-US" sz="1400" b="1" dirty="0" err="1"/>
              <a:t>EventArgs</a:t>
            </a:r>
            <a:r>
              <a:rPr lang="en-US" sz="1400" b="1" dirty="0"/>
              <a:t> e)</a:t>
            </a:r>
          </a:p>
          <a:p>
            <a:r>
              <a:rPr lang="en-US" sz="1400" b="1" dirty="0"/>
              <a:t>{</a:t>
            </a:r>
          </a:p>
          <a:p>
            <a:r>
              <a:rPr lang="en-US" sz="1400" b="1" dirty="0"/>
              <a:t>        string </a:t>
            </a:r>
            <a:r>
              <a:rPr lang="en-US" sz="1400" b="1" dirty="0" err="1"/>
              <a:t>connectionString</a:t>
            </a:r>
            <a:r>
              <a:rPr lang="en-US" sz="1400" b="1" dirty="0"/>
              <a:t> = </a:t>
            </a:r>
            <a:r>
              <a:rPr lang="en-US" sz="1400" b="1" dirty="0" err="1"/>
              <a:t>WebConfigurationManager.ConnectionStrings</a:t>
            </a:r>
            <a:r>
              <a:rPr lang="en-US" sz="1400" b="1" dirty="0"/>
              <a:t>["Northwind"].</a:t>
            </a:r>
            <a:r>
              <a:rPr lang="en-US" sz="1400" b="1" dirty="0" err="1"/>
              <a:t>ConnectionString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SqlConnection</a:t>
            </a:r>
            <a:r>
              <a:rPr lang="en-US" sz="1400" b="1" dirty="0"/>
              <a:t> con = new </a:t>
            </a:r>
            <a:r>
              <a:rPr lang="en-US" sz="1400" b="1" dirty="0" err="1"/>
              <a:t>SqlConnection</a:t>
            </a:r>
            <a:r>
              <a:rPr lang="en-US" sz="1400" b="1" dirty="0"/>
              <a:t>(</a:t>
            </a:r>
            <a:r>
              <a:rPr lang="en-US" sz="1400" b="1" dirty="0" err="1"/>
              <a:t>connectionString</a:t>
            </a:r>
            <a:r>
              <a:rPr lang="en-US" sz="1400" b="1" dirty="0"/>
              <a:t>);</a:t>
            </a:r>
          </a:p>
          <a:p>
            <a:endParaRPr lang="en-US" sz="1400" b="1" dirty="0"/>
          </a:p>
          <a:p>
            <a:r>
              <a:rPr lang="en-US" sz="1400" b="1" dirty="0"/>
              <a:t>        // </a:t>
            </a:r>
            <a:r>
              <a:rPr lang="ru-RU" sz="1400" b="1" dirty="0"/>
              <a:t>Получить заказы по идентификатору заказчика</a:t>
            </a:r>
          </a:p>
          <a:p>
            <a:r>
              <a:rPr lang="ru-RU" sz="1400" b="1" dirty="0"/>
              <a:t>        </a:t>
            </a:r>
            <a:r>
              <a:rPr lang="en-US" sz="1400" b="1" dirty="0"/>
              <a:t>string </a:t>
            </a:r>
            <a:r>
              <a:rPr lang="en-US" sz="1400" b="1" dirty="0" err="1"/>
              <a:t>sql</a:t>
            </a:r>
            <a:r>
              <a:rPr lang="en-US" sz="1400" b="1" dirty="0"/>
              <a:t> =</a:t>
            </a:r>
          </a:p>
          <a:p>
            <a:r>
              <a:rPr lang="en-US" sz="1400" b="1" dirty="0"/>
              <a:t>            "SELECT </a:t>
            </a:r>
            <a:r>
              <a:rPr lang="en-US" sz="1400" b="1" dirty="0" err="1"/>
              <a:t>Orders.CustomerID</a:t>
            </a:r>
            <a:r>
              <a:rPr lang="en-US" sz="1400" b="1" dirty="0"/>
              <a:t>, </a:t>
            </a:r>
            <a:r>
              <a:rPr lang="en-US" sz="1400" b="1" dirty="0" err="1"/>
              <a:t>Orders.OrderID</a:t>
            </a:r>
            <a:r>
              <a:rPr lang="en-US" sz="1400" b="1" dirty="0"/>
              <a:t>, COUNT(</a:t>
            </a:r>
            <a:r>
              <a:rPr lang="en-US" sz="1400" b="1" dirty="0" err="1"/>
              <a:t>UnitPrice</a:t>
            </a:r>
            <a:r>
              <a:rPr lang="en-US" sz="1400" b="1" dirty="0"/>
              <a:t>) AS Items, " +</a:t>
            </a:r>
          </a:p>
          <a:p>
            <a:r>
              <a:rPr lang="en-US" sz="1400" b="1" dirty="0"/>
              <a:t>            "SUM(</a:t>
            </a:r>
            <a:r>
              <a:rPr lang="en-US" sz="1400" b="1" dirty="0" err="1"/>
              <a:t>UnitPrice</a:t>
            </a:r>
            <a:r>
              <a:rPr lang="en-US" sz="1400" b="1" dirty="0"/>
              <a:t> * Quantity) AS Total FROM Orders " +</a:t>
            </a:r>
          </a:p>
          <a:p>
            <a:r>
              <a:rPr lang="en-US" sz="1400" b="1" dirty="0"/>
              <a:t>            "INNER JOIN [Order Details] " +</a:t>
            </a:r>
          </a:p>
          <a:p>
            <a:r>
              <a:rPr lang="en-US" sz="1400" b="1" dirty="0"/>
              <a:t>            "ON </a:t>
            </a:r>
            <a:r>
              <a:rPr lang="en-US" sz="1400" b="1" dirty="0" err="1"/>
              <a:t>Orders.OrderID</a:t>
            </a:r>
            <a:r>
              <a:rPr lang="en-US" sz="1400" b="1" dirty="0"/>
              <a:t> = [Order Details].</a:t>
            </a:r>
            <a:r>
              <a:rPr lang="en-US" sz="1400" b="1" dirty="0" err="1"/>
              <a:t>OrderID</a:t>
            </a:r>
            <a:r>
              <a:rPr lang="en-US" sz="1400" b="1" dirty="0"/>
              <a:t> " +</a:t>
            </a:r>
          </a:p>
          <a:p>
            <a:r>
              <a:rPr lang="en-US" sz="1400" b="1" dirty="0"/>
              <a:t>            "WHERE </a:t>
            </a:r>
            <a:r>
              <a:rPr lang="en-US" sz="1400" b="1" dirty="0" err="1"/>
              <a:t>Orders.CustomerID</a:t>
            </a:r>
            <a:r>
              <a:rPr lang="en-US" sz="1400" b="1" dirty="0"/>
              <a:t> = </a:t>
            </a:r>
            <a:r>
              <a:rPr lang="en-US" sz="1400" b="1" dirty="0">
                <a:highlight>
                  <a:srgbClr val="FFFF00"/>
                </a:highlight>
              </a:rPr>
              <a:t>'" + </a:t>
            </a:r>
            <a:r>
              <a:rPr lang="en-US" sz="1400" b="1" dirty="0" err="1">
                <a:highlight>
                  <a:srgbClr val="FFFF00"/>
                </a:highlight>
              </a:rPr>
              <a:t>txtID.Text</a:t>
            </a:r>
            <a:r>
              <a:rPr lang="en-US" sz="1400" b="1" dirty="0">
                <a:highlight>
                  <a:srgbClr val="FFFF00"/>
                </a:highlight>
              </a:rPr>
              <a:t> + "' </a:t>
            </a:r>
            <a:r>
              <a:rPr lang="en-US" sz="1400" b="1" dirty="0"/>
              <a:t>" +</a:t>
            </a:r>
          </a:p>
          <a:p>
            <a:r>
              <a:rPr lang="en-US" sz="1400" b="1" dirty="0"/>
              <a:t>            "GROUP BY </a:t>
            </a:r>
            <a:r>
              <a:rPr lang="en-US" sz="1400" b="1" dirty="0" err="1"/>
              <a:t>Orders.OrderID</a:t>
            </a:r>
            <a:r>
              <a:rPr lang="en-US" sz="1400" b="1" dirty="0"/>
              <a:t>, </a:t>
            </a:r>
            <a:r>
              <a:rPr lang="en-US" sz="1400" b="1" dirty="0" err="1"/>
              <a:t>Orders.CustomerID</a:t>
            </a:r>
            <a:r>
              <a:rPr lang="en-US" sz="1400" b="1" dirty="0"/>
              <a:t>";</a:t>
            </a:r>
          </a:p>
          <a:p>
            <a:endParaRPr lang="en-US" sz="1400" b="1" dirty="0"/>
          </a:p>
          <a:p>
            <a:r>
              <a:rPr lang="en-US" sz="1400" b="1" dirty="0"/>
              <a:t>        </a:t>
            </a:r>
            <a:r>
              <a:rPr lang="en-US" sz="1400" b="1" dirty="0" err="1"/>
              <a:t>SqlCommand</a:t>
            </a:r>
            <a:r>
              <a:rPr lang="en-US" sz="1400" b="1" dirty="0"/>
              <a:t> </a:t>
            </a:r>
            <a:r>
              <a:rPr lang="en-US" sz="1400" b="1" dirty="0" err="1"/>
              <a:t>cmd</a:t>
            </a:r>
            <a:r>
              <a:rPr lang="en-US" sz="1400" b="1" dirty="0"/>
              <a:t> = new </a:t>
            </a:r>
            <a:r>
              <a:rPr lang="en-US" sz="1400" b="1" dirty="0" err="1"/>
              <a:t>SqlCommand</a:t>
            </a:r>
            <a:r>
              <a:rPr lang="en-US" sz="1400" b="1" dirty="0"/>
              <a:t>(</a:t>
            </a:r>
            <a:r>
              <a:rPr lang="en-US" sz="1400" b="1" dirty="0" err="1"/>
              <a:t>sql</a:t>
            </a:r>
            <a:r>
              <a:rPr lang="en-US" sz="1400" b="1" dirty="0"/>
              <a:t>, conn);</a:t>
            </a:r>
          </a:p>
          <a:p>
            <a:endParaRPr lang="en-US" sz="1400" b="1" dirty="0"/>
          </a:p>
          <a:p>
            <a:r>
              <a:rPr lang="en-US" sz="1400" b="1" dirty="0"/>
              <a:t>        </a:t>
            </a:r>
            <a:r>
              <a:rPr lang="en-US" sz="1400" b="1" dirty="0" err="1"/>
              <a:t>conn.Open</a:t>
            </a:r>
            <a:r>
              <a:rPr lang="en-US" sz="1400" b="1" dirty="0"/>
              <a:t>();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SqlDataReader</a:t>
            </a:r>
            <a:r>
              <a:rPr lang="en-US" sz="1400" b="1" dirty="0"/>
              <a:t> reader = </a:t>
            </a:r>
            <a:r>
              <a:rPr lang="en-US" sz="1400" b="1" dirty="0" err="1"/>
              <a:t>cmd.ExecuteReader</a:t>
            </a:r>
            <a:r>
              <a:rPr lang="en-US" sz="1400" b="1" dirty="0"/>
              <a:t>();</a:t>
            </a:r>
          </a:p>
          <a:p>
            <a:r>
              <a:rPr lang="en-US" sz="1400" b="1" dirty="0"/>
              <a:t>        GridView1.DataSource = reader;</a:t>
            </a:r>
          </a:p>
          <a:p>
            <a:r>
              <a:rPr lang="en-US" sz="1400" b="1" dirty="0"/>
              <a:t>        GridView1.DataBind();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reader.Close</a:t>
            </a:r>
            <a:r>
              <a:rPr lang="en-US" sz="1400" b="1" dirty="0"/>
              <a:t>();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conn.Close</a:t>
            </a:r>
            <a:r>
              <a:rPr lang="en-US" sz="1400" b="1" dirty="0"/>
              <a:t>();</a:t>
            </a:r>
          </a:p>
          <a:p>
            <a:r>
              <a:rPr lang="en-US" sz="1400" b="1" dirty="0"/>
              <a:t>}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144451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Command. </a:t>
            </a:r>
            <a:r>
              <a:rPr lang="ru-RU" dirty="0"/>
              <a:t>Параметризированные запросы</a:t>
            </a:r>
            <a:r>
              <a:rPr lang="en-US" dirty="0"/>
              <a:t>.</a:t>
            </a:r>
            <a:endParaRPr lang="ru-RU" b="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95536" y="1219200"/>
            <a:ext cx="8352928" cy="4800600"/>
          </a:xfrm>
        </p:spPr>
        <p:txBody>
          <a:bodyPr/>
          <a:lstStyle/>
          <a:p>
            <a:pPr marL="0" lvl="1" indent="363538" algn="just">
              <a:buNone/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Атака внедрением:</a:t>
            </a:r>
          </a:p>
          <a:p>
            <a:pPr marL="0" lvl="1" indent="363538" algn="just">
              <a:buNone/>
            </a:pPr>
            <a:endParaRPr lang="ru-RU" sz="2000" b="1" dirty="0">
              <a:solidFill>
                <a:srgbClr val="002060"/>
              </a:solidFill>
            </a:endParaRPr>
          </a:p>
          <a:p>
            <a:pPr marL="0" indent="363538" algn="just">
              <a:buNone/>
            </a:pPr>
            <a:r>
              <a:rPr lang="ru-RU" sz="2000" dirty="0"/>
              <a:t>Вот что пользователь может ввести в текстовом поле, чтобы осуществить более изощренную атаку внедрением SQL, удалив все строки в таблице </a:t>
            </a:r>
            <a:r>
              <a:rPr lang="ru-RU" sz="2000" dirty="0" err="1"/>
              <a:t>Customers</a:t>
            </a:r>
            <a:r>
              <a:rPr lang="ru-RU" sz="2000" dirty="0"/>
              <a:t>: </a:t>
            </a:r>
          </a:p>
          <a:p>
            <a:pPr marL="0" indent="363538" algn="just">
              <a:buNone/>
            </a:pPr>
            <a:r>
              <a:rPr lang="ru-RU" sz="2000" dirty="0"/>
              <a:t>	</a:t>
            </a:r>
            <a:endParaRPr lang="ru-RU" sz="2000" b="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 indent="363538" algn="just">
              <a:buNone/>
            </a:pPr>
            <a:endParaRPr lang="ru-RU" sz="2000" dirty="0">
              <a:solidFill>
                <a:srgbClr val="002060"/>
              </a:solidFill>
            </a:endParaRPr>
          </a:p>
          <a:p>
            <a:pPr marL="0" lvl="1" indent="363538" algn="just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 -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граница начала нового оператора</a:t>
            </a:r>
          </a:p>
          <a:p>
            <a:pPr marL="0" lvl="1" indent="363538" algn="just"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 - комментирует оставшуюся часть оператора.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indent="363538" algn="just"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indent="363538" algn="just"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Что бы избежать этой опасности, нужно использовать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параметры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83626" y="3109610"/>
            <a:ext cx="767635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Courier New" pitchFamily="49" charset="0"/>
                <a:cs typeface="Courier New" pitchFamily="49" charset="0"/>
              </a:rPr>
              <a:t>ALFKI‘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ru-RU" sz="2800" dirty="0">
                <a:latin typeface="Courier New" pitchFamily="49" charset="0"/>
                <a:cs typeface="Courier New" pitchFamily="49" charset="0"/>
              </a:rPr>
              <a:t> DELETE * FROM </a:t>
            </a:r>
            <a:r>
              <a:rPr lang="ru-RU" sz="2800" dirty="0" err="1">
                <a:latin typeface="Courier New" pitchFamily="49" charset="0"/>
                <a:cs typeface="Courier New" pitchFamily="49" charset="0"/>
              </a:rPr>
              <a:t>Customers</a:t>
            </a:r>
            <a:r>
              <a:rPr lang="ru-RU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—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Command. </a:t>
            </a:r>
            <a:r>
              <a:rPr lang="ru-RU" dirty="0"/>
              <a:t>Параметризованная  команда</a:t>
            </a:r>
            <a:r>
              <a:rPr lang="en-US" dirty="0"/>
              <a:t>.</a:t>
            </a:r>
            <a:endParaRPr lang="ru-RU" b="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79511" y="1219200"/>
            <a:ext cx="8507287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1800" b="1" dirty="0"/>
              <a:t>Параметризованная  команда </a:t>
            </a:r>
            <a:r>
              <a:rPr lang="ru-RU" sz="1800" dirty="0"/>
              <a:t>— это просто команда, которая использует символы-заполнители в тексте SQL. Заполнитель указывает место для динамически применяемых значений, которые затем пересылаются через коллекцию </a:t>
            </a:r>
            <a:r>
              <a:rPr lang="ru-RU" sz="1800" b="1" dirty="0" err="1"/>
              <a:t>Parameters</a:t>
            </a:r>
            <a:r>
              <a:rPr lang="ru-RU" sz="1800" dirty="0"/>
              <a:t> объекту </a:t>
            </a:r>
            <a:r>
              <a:rPr lang="ru-RU" sz="1800" dirty="0" err="1"/>
              <a:t>Command</a:t>
            </a:r>
            <a:r>
              <a:rPr lang="ru-RU" sz="1800" dirty="0"/>
              <a:t>. </a:t>
            </a:r>
          </a:p>
          <a:p>
            <a:pPr marL="0" indent="363538" algn="just">
              <a:buNone/>
            </a:pPr>
            <a:r>
              <a:rPr lang="ru-RU" sz="1800" dirty="0"/>
              <a:t>Например, следующий оператор SQL:</a:t>
            </a:r>
          </a:p>
          <a:p>
            <a:pPr marL="0" indent="363538" algn="just">
              <a:buNone/>
            </a:pPr>
            <a:r>
              <a:rPr lang="ru-RU" sz="1800" b="0" dirty="0"/>
              <a:t>		</a:t>
            </a:r>
            <a:endParaRPr lang="ru-RU" sz="1800" b="0" dirty="0">
              <a:latin typeface="Courier New" pitchFamily="49" charset="0"/>
              <a:cs typeface="Courier New" pitchFamily="49" charset="0"/>
            </a:endParaRPr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r>
              <a:rPr lang="ru-RU" sz="1800" dirty="0"/>
              <a:t>должен стать чем-то вроде:</a:t>
            </a:r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endParaRPr lang="en-US" sz="1800" dirty="0"/>
          </a:p>
          <a:p>
            <a:pPr marL="0" indent="363538" algn="just">
              <a:buNone/>
            </a:pPr>
            <a:r>
              <a:rPr lang="en-US" sz="1800" b="1" dirty="0"/>
              <a:t>@</a:t>
            </a:r>
            <a:r>
              <a:rPr lang="en-US" sz="1800" b="1" dirty="0" err="1"/>
              <a:t>CustID</a:t>
            </a:r>
            <a:r>
              <a:rPr lang="en-US" sz="1800" b="1" dirty="0"/>
              <a:t> </a:t>
            </a:r>
            <a:r>
              <a:rPr lang="ru-RU" sz="1800" b="1" dirty="0"/>
              <a:t> </a:t>
            </a:r>
            <a:r>
              <a:rPr lang="ru-RU" sz="1800" dirty="0"/>
              <a:t>значение будет считаться единым целым, независимо от того, что ввел пользователь.</a:t>
            </a:r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r>
              <a:rPr lang="ru-RU" sz="1800" b="0" dirty="0"/>
              <a:t>		</a:t>
            </a:r>
            <a:endParaRPr lang="ru-RU" sz="1800" b="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5536" y="2800673"/>
            <a:ext cx="829126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SELECT * FROM Customers WHERE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'ALFKI‘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5536" y="4057327"/>
            <a:ext cx="813690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SELECT * FROM Customers WHERE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CustID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Command</a:t>
            </a:r>
            <a:r>
              <a:rPr lang="ru-RU" dirty="0"/>
              <a:t>. </a:t>
            </a:r>
            <a:r>
              <a:rPr lang="en-US" dirty="0"/>
              <a:t>Parameters.</a:t>
            </a:r>
            <a:endParaRPr lang="ru-RU" b="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74848" y="1219200"/>
            <a:ext cx="8229600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1800" dirty="0"/>
              <a:t>У класса </a:t>
            </a:r>
            <a:r>
              <a:rPr lang="en-US" sz="1800" dirty="0"/>
              <a:t>Command </a:t>
            </a:r>
            <a:r>
              <a:rPr lang="ru-RU" sz="1800" dirty="0"/>
              <a:t>есть коллекция </a:t>
            </a:r>
            <a:r>
              <a:rPr lang="en-US" sz="1800" b="1" dirty="0"/>
              <a:t>Parameters</a:t>
            </a:r>
            <a:r>
              <a:rPr lang="ru-RU" sz="1800" dirty="0"/>
              <a:t>, через которую реализуется передача параметризированных команд на сервер:</a:t>
            </a:r>
          </a:p>
          <a:p>
            <a:pPr marL="0" indent="363538" algn="just">
              <a:buNone/>
            </a:pPr>
            <a:endParaRPr lang="ru-RU" sz="1800" b="0" dirty="0"/>
          </a:p>
          <a:p>
            <a:pPr marL="0" indent="363538" algn="just">
              <a:buNone/>
            </a:pPr>
            <a:endParaRPr lang="ru-RU" sz="1800" b="0" dirty="0"/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endParaRPr lang="ru-RU" sz="1800" b="0" dirty="0"/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>
              <a:buNone/>
            </a:pPr>
            <a:r>
              <a:rPr lang="ru-RU" sz="1800" b="0" dirty="0"/>
              <a:t>Такой оператор гарантированно избежит </a:t>
            </a:r>
            <a:r>
              <a:rPr lang="en-US" sz="1800" b="0" dirty="0"/>
              <a:t>SQL</a:t>
            </a:r>
            <a:r>
              <a:rPr lang="ru-RU" sz="1800" dirty="0"/>
              <a:t> инъекции.</a:t>
            </a:r>
            <a:endParaRPr lang="ru-RU" sz="18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1520" y="2071678"/>
            <a:ext cx="8352928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com = new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("Select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CityName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from City where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CountryID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(select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CountryID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from Country where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CountryName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)", conn);</a:t>
            </a:r>
            <a:endParaRPr lang="ru-RU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com.Parameters.AddWithValue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CountryName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15962"/>
          </a:xfrm>
        </p:spPr>
        <p:txBody>
          <a:bodyPr/>
          <a:lstStyle/>
          <a:p>
            <a:r>
              <a:rPr lang="ru-RU" dirty="0"/>
              <a:t>Хранимые процедуры в </a:t>
            </a:r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95536" y="980728"/>
            <a:ext cx="8424936" cy="5039072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1800" dirty="0"/>
              <a:t>Выполнение в базе данных хранимых процедур вместо отдельных операторов SQL дает пользователю следующие преимущества:</a:t>
            </a:r>
          </a:p>
          <a:p>
            <a:pPr marL="0" lvl="0" indent="363538" algn="just"/>
            <a:r>
              <a:rPr lang="ru-RU" sz="1600" dirty="0"/>
              <a:t>необходимые операторы уже содержатся в базе данных;</a:t>
            </a:r>
          </a:p>
          <a:p>
            <a:pPr marL="0" lvl="0" indent="363538" algn="just"/>
            <a:r>
              <a:rPr lang="ru-RU" sz="1600" dirty="0"/>
              <a:t>все они прошли этап синтаксического анализа и находятся в исполняемом формате; перед выполнением хранимой процедуры SQL </a:t>
            </a:r>
            <a:r>
              <a:rPr lang="ru-RU" sz="1600" dirty="0" err="1"/>
              <a:t>Server</a:t>
            </a:r>
            <a:r>
              <a:rPr lang="ru-RU" sz="1600" dirty="0"/>
              <a:t> генерирует для нее план исполнения, выполняет ее оптимизацию и компиляцию;</a:t>
            </a:r>
          </a:p>
          <a:p>
            <a:pPr marL="0" lvl="0" indent="363538" algn="just"/>
            <a:r>
              <a:rPr lang="ru-RU" sz="1600" dirty="0"/>
              <a:t>хранимые процедуры поддерживают модульное программирование, так как позволяют разбивать большие задачи на самостоятельные, более мелкие и удобные в управлении части;</a:t>
            </a:r>
          </a:p>
          <a:p>
            <a:pPr marL="0" lvl="0" indent="363538" algn="just"/>
            <a:r>
              <a:rPr lang="ru-RU" sz="1600" dirty="0"/>
              <a:t>хранимые процедуры могут вызывать другие хранимые процедуры и функции;</a:t>
            </a:r>
          </a:p>
          <a:p>
            <a:pPr marL="0" lvl="0" indent="363538" algn="just"/>
            <a:r>
              <a:rPr lang="ru-RU" sz="1600" dirty="0"/>
              <a:t>хранимые процедуры могут быть вызваны из прикладных программ других типов;</a:t>
            </a:r>
          </a:p>
          <a:p>
            <a:pPr marL="0" lvl="0" indent="363538" algn="just"/>
            <a:r>
              <a:rPr lang="ru-RU" sz="1600" dirty="0"/>
              <a:t>как правило, хранимые процедуры выполняются быстрее, чем последовательность отдельных операторов;</a:t>
            </a:r>
          </a:p>
          <a:p>
            <a:pPr marL="0" lvl="0" indent="363538" algn="just"/>
            <a:r>
              <a:rPr lang="ru-RU" sz="1600" dirty="0"/>
              <a:t>хранимые процедуры проще использовать: они могут состоять из десятков и сотен команд, но для их запуска достаточно указать всего лишь имя нужной хранимой процедуры. Это позволяет уменьшить размер запроса, посылаемого от клиента на сервер, а значит, и нагрузку на сеть.</a:t>
            </a:r>
            <a:endParaRPr lang="ru-RU" sz="16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Хранимые процедуры в </a:t>
            </a:r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3635896" y="764704"/>
            <a:ext cx="5184576" cy="4800600"/>
          </a:xfrm>
        </p:spPr>
        <p:txBody>
          <a:bodyPr/>
          <a:lstStyle/>
          <a:p>
            <a:pPr>
              <a:buNone/>
            </a:pPr>
            <a:r>
              <a:rPr lang="en-US" sz="1800" dirty="0"/>
              <a:t>	</a:t>
            </a:r>
            <a:r>
              <a:rPr lang="ru-RU" sz="1800" dirty="0"/>
              <a:t>Рассмотрим пример. Создадим процедуру:</a:t>
            </a:r>
            <a:endParaRPr lang="en-US" sz="1800" dirty="0"/>
          </a:p>
          <a:p>
            <a:pPr algn="just">
              <a:buNone/>
            </a:pPr>
            <a:endParaRPr lang="ru-RU" sz="18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36252" y="1502240"/>
            <a:ext cx="5228084" cy="44012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CREATE PROCEDURE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dbo.AddCustomer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CityName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(255),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CustomerName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(255)</a:t>
            </a:r>
          </a:p>
          <a:p>
            <a:pPr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AS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BEGIN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insert into Customer 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CustomerName,CityID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values (@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CustomerName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CityID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from City 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where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CityName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CityName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END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3"/>
            <a:ext cx="3443536" cy="565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Хранимые процедуры в </a:t>
            </a:r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842039" y="990600"/>
            <a:ext cx="7315200" cy="611222"/>
          </a:xfrm>
        </p:spPr>
        <p:txBody>
          <a:bodyPr/>
          <a:lstStyle/>
          <a:p>
            <a:pPr marL="0" lvl="1" indent="363538">
              <a:buNone/>
            </a:pPr>
            <a:r>
              <a:rPr lang="ru-RU" sz="2000" dirty="0"/>
              <a:t>Вызов процедуры в клиентской программе: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ru-RU" sz="2000" dirty="0"/>
              <a:t>	</a:t>
            </a:r>
            <a:endParaRPr lang="ru-RU" sz="2000" b="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4848" y="1601822"/>
            <a:ext cx="8517632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com = new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SqlCommand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AddCustomer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", conn);</a:t>
            </a: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com.CommandType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CommandType.StoredProcedure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com.Parameters.AddWithValue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("@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CityName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", “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Гомель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”);</a:t>
            </a: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com.Parameters.AddWithValue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("@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CustomerName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", “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Ковбеня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Э.М.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”);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conn.Open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com.ExecuteNonQuery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catch (Exception e)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finally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conn.Close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Хранимые процедуры в </a:t>
            </a:r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r>
              <a:rPr lang="ru-RU" dirty="0"/>
              <a:t>. Выходной параметр.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63538">
              <a:buNone/>
            </a:pPr>
            <a:r>
              <a:rPr lang="ru-RU" sz="1800" dirty="0"/>
              <a:t>Некоторые процедуры могут иметь выходной (</a:t>
            </a:r>
            <a:r>
              <a:rPr lang="en-US" sz="1800" dirty="0"/>
              <a:t>OUTPUT) </a:t>
            </a:r>
            <a:r>
              <a:rPr lang="ru-RU" sz="1800" dirty="0"/>
              <a:t>параметр:</a:t>
            </a:r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dirty="0"/>
          </a:p>
          <a:p>
            <a:pPr marL="0" indent="363538">
              <a:buNone/>
            </a:pPr>
            <a:endParaRPr lang="ru-RU" sz="18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3568" y="2060849"/>
            <a:ext cx="7776864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CREATE PROCEDURE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InsertEmployee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TitleOfCourtesy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(25),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(20),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(10),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EmployeeID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OUTPUT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000" b="1" dirty="0">
                <a:latin typeface="Courier New" pitchFamily="49" charset="0"/>
                <a:cs typeface="Courier New" pitchFamily="49" charset="0"/>
              </a:rPr>
              <a:t>AS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INSERT INTO Employees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TitleOfCourtesy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VALUES (@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TitleOfCourtesy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@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GETDATE());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000" b="1" dirty="0">
                <a:latin typeface="Courier New" pitchFamily="49" charset="0"/>
                <a:cs typeface="Courier New" pitchFamily="49" charset="0"/>
              </a:rPr>
              <a:t>SET </a:t>
            </a:r>
            <a:r>
              <a:rPr lang="ru-RU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ru-RU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EmployeeID</a:t>
            </a:r>
            <a:r>
              <a:rPr lang="ru-RU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= @@IDENTITY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Хранимые процедуры в </a:t>
            </a:r>
            <a:r>
              <a:rPr lang="en-US" dirty="0"/>
              <a:t>ADO</a:t>
            </a:r>
            <a:r>
              <a:rPr lang="ru-RU" dirty="0"/>
              <a:t>.</a:t>
            </a:r>
            <a:r>
              <a:rPr lang="en-US" dirty="0"/>
              <a:t>NET</a:t>
            </a:r>
            <a:r>
              <a:rPr lang="ru-RU" dirty="0"/>
              <a:t>. Выходной параметр.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827584" y="1124744"/>
            <a:ext cx="7315200" cy="4800600"/>
          </a:xfrm>
        </p:spPr>
        <p:txBody>
          <a:bodyPr/>
          <a:lstStyle/>
          <a:p>
            <a:pPr marL="0" indent="363538">
              <a:buNone/>
            </a:pPr>
            <a:r>
              <a:rPr lang="ru-RU" sz="1800" dirty="0"/>
              <a:t>Прочитать выходной параметр достаточно просто:</a:t>
            </a:r>
            <a:endParaRPr lang="ru-RU" sz="1800" b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9512" y="1602952"/>
            <a:ext cx="8496944" cy="3693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cmd.Parameters.Add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SqlParameter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("@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EmployeeID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SqlDbType.Int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, 4));</a:t>
            </a:r>
          </a:p>
          <a:p>
            <a:pPr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cmd.Parameters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["@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EmployeeID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"].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 =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ParameterDirection.Output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conn.Open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cmd.ExecuteNonQuery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cmd.Parameters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["@</a:t>
            </a:r>
            <a:r>
              <a:rPr lang="ru-RU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EmployeeID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"].</a:t>
            </a:r>
            <a:r>
              <a:rPr lang="ru-RU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n.Close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30481" y="116632"/>
            <a:ext cx="8229600" cy="715962"/>
          </a:xfrm>
        </p:spPr>
        <p:txBody>
          <a:bodyPr/>
          <a:lstStyle/>
          <a:p>
            <a:r>
              <a:rPr lang="ru-RU" dirty="0"/>
              <a:t>Класс </a:t>
            </a:r>
            <a:r>
              <a:rPr lang="en-US" dirty="0" err="1"/>
              <a:t>DataReader</a:t>
            </a:r>
            <a:r>
              <a:rPr lang="ru-RU" dirty="0"/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0" y="633038"/>
            <a:ext cx="8892480" cy="648072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 err="1"/>
              <a:t>DataReader</a:t>
            </a:r>
            <a:r>
              <a:rPr lang="ru-RU" sz="1800" dirty="0"/>
              <a:t> позволяет читать данные, возвращенные командой SELECT, по одной строке за раз, в однонаправленном, доступном только для чтения потоке</a:t>
            </a: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ru-RU" sz="1800" dirty="0"/>
          </a:p>
        </p:txBody>
      </p:sp>
      <p:sp>
        <p:nvSpPr>
          <p:cNvPr id="17" name="Объект 8"/>
          <p:cNvSpPr txBox="1">
            <a:spLocks/>
          </p:cNvSpPr>
          <p:nvPr/>
        </p:nvSpPr>
        <p:spPr>
          <a:xfrm>
            <a:off x="322634" y="1268760"/>
            <a:ext cx="8306287" cy="5066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lvl1pPr marL="2857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40000"/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66813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40000"/>
              <a:buFont typeface="Arial" pitchFamily="34" charset="0"/>
              <a:buChar char="›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11313" indent="-280988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―"/>
              <a:tabLst>
                <a:tab pos="1611313" algn="l"/>
              </a:tabLst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79600" indent="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b="1" dirty="0" err="1"/>
              <a:t>SqlConnection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conn</a:t>
            </a:r>
            <a:r>
              <a:rPr lang="en-US" sz="1600" b="1" dirty="0"/>
              <a:t> = new </a:t>
            </a:r>
            <a:r>
              <a:rPr lang="en-US" sz="1600" b="1" dirty="0" err="1"/>
              <a:t>SqlConnection</a:t>
            </a:r>
            <a:r>
              <a:rPr lang="en-US" sz="1600" b="1" dirty="0"/>
              <a:t>(</a:t>
            </a:r>
            <a:r>
              <a:rPr lang="en-US" sz="1600" b="1" dirty="0" err="1"/>
              <a:t>connString</a:t>
            </a:r>
            <a:r>
              <a:rPr lang="en-US" sz="1600" b="1" dirty="0"/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1600" b="1" dirty="0" err="1"/>
              <a:t>SqlCommand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com</a:t>
            </a:r>
            <a:r>
              <a:rPr lang="en-US" sz="1600" b="1" dirty="0"/>
              <a:t> = new </a:t>
            </a:r>
            <a:r>
              <a:rPr lang="en-US" sz="1600" b="1" dirty="0" err="1"/>
              <a:t>SqlCommand</a:t>
            </a:r>
            <a:r>
              <a:rPr lang="en-US" sz="1600" b="1" dirty="0"/>
              <a:t>("Select </a:t>
            </a:r>
            <a:r>
              <a:rPr lang="en-US" sz="1600" b="1" dirty="0" err="1"/>
              <a:t>CountryName</a:t>
            </a:r>
            <a:r>
              <a:rPr lang="en-US" sz="1600" b="1" dirty="0"/>
              <a:t> from Country", con);</a:t>
            </a:r>
          </a:p>
          <a:p>
            <a:pPr>
              <a:buFont typeface="Wingdings" pitchFamily="2" charset="2"/>
              <a:buNone/>
            </a:pPr>
            <a:r>
              <a:rPr lang="en-US" sz="1600" b="1" dirty="0"/>
              <a:t>List&lt;String&gt; </a:t>
            </a:r>
            <a:r>
              <a:rPr lang="en-US" sz="1600" b="1" dirty="0" err="1"/>
              <a:t>retList</a:t>
            </a:r>
            <a:r>
              <a:rPr lang="en-US" sz="1600" b="1" dirty="0"/>
              <a:t> = new List&lt;String&gt;();</a:t>
            </a:r>
            <a:r>
              <a:rPr lang="ru-RU" sz="1600" b="1" dirty="0"/>
              <a:t>        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{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</a:t>
            </a:r>
            <a:r>
              <a:rPr lang="en-US" sz="1600" b="1" dirty="0" err="1">
                <a:solidFill>
                  <a:srgbClr val="FF0000"/>
                </a:solidFill>
              </a:rPr>
              <a:t>conn.Open</a:t>
            </a:r>
            <a:r>
              <a:rPr lang="en-US" sz="1600" b="1" dirty="0"/>
              <a:t>();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</a:t>
            </a:r>
            <a:r>
              <a:rPr lang="en-US" sz="1600" b="1" dirty="0" err="1"/>
              <a:t>SqlDataReader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reader</a:t>
            </a:r>
            <a:r>
              <a:rPr lang="en-US" sz="1600" b="1" dirty="0"/>
              <a:t> = </a:t>
            </a:r>
            <a:r>
              <a:rPr lang="en-US" sz="1600" b="1" dirty="0" err="1"/>
              <a:t>com.ExecuteReader</a:t>
            </a:r>
            <a:r>
              <a:rPr lang="en-US" sz="1600" b="1" dirty="0"/>
              <a:t>();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</a:t>
            </a:r>
            <a:r>
              <a:rPr lang="en-US" sz="1600" b="1" dirty="0"/>
              <a:t>while (</a:t>
            </a:r>
            <a:r>
              <a:rPr lang="en-US" sz="1600" b="1" dirty="0" err="1"/>
              <a:t>reader.Read</a:t>
            </a:r>
            <a:r>
              <a:rPr lang="en-US" sz="1600" b="1" dirty="0"/>
              <a:t>())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  {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     </a:t>
            </a:r>
            <a:r>
              <a:rPr lang="en-US" sz="1600" b="1" dirty="0" err="1"/>
              <a:t>retList.Add</a:t>
            </a:r>
            <a:r>
              <a:rPr lang="en-US" sz="1600" b="1" dirty="0"/>
              <a:t>(</a:t>
            </a:r>
            <a:r>
              <a:rPr lang="en-US" sz="1600" b="1" dirty="0" err="1">
                <a:solidFill>
                  <a:srgbClr val="FF0000"/>
                </a:solidFill>
              </a:rPr>
              <a:t>reader.GetValue</a:t>
            </a:r>
            <a:r>
              <a:rPr lang="en-US" sz="1600" b="1" dirty="0">
                <a:solidFill>
                  <a:srgbClr val="FF0000"/>
                </a:solidFill>
              </a:rPr>
              <a:t>(0)</a:t>
            </a:r>
            <a:r>
              <a:rPr lang="en-US" sz="1600" b="1" dirty="0"/>
              <a:t>.</a:t>
            </a:r>
            <a:r>
              <a:rPr lang="en-US" sz="1600" b="1" dirty="0" err="1"/>
              <a:t>ToString</a:t>
            </a:r>
            <a:r>
              <a:rPr lang="en-US" sz="1600" b="1" dirty="0"/>
              <a:t>());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    </a:t>
            </a:r>
            <a:r>
              <a:rPr lang="en-US" sz="1600" b="1" dirty="0"/>
              <a:t>}</a:t>
            </a:r>
            <a:endParaRPr lang="ru-RU" sz="1600" b="1" dirty="0"/>
          </a:p>
          <a:p>
            <a:pPr>
              <a:buFont typeface="Wingdings" pitchFamily="2" charset="2"/>
              <a:buNone/>
            </a:pPr>
            <a:r>
              <a:rPr lang="ru-RU" sz="1600" b="1" dirty="0"/>
              <a:t>}</a:t>
            </a:r>
          </a:p>
          <a:p>
            <a:pPr>
              <a:buFont typeface="Wingdings" pitchFamily="2" charset="2"/>
              <a:buNone/>
            </a:pPr>
            <a:r>
              <a:rPr lang="en-US" sz="1600" b="1" dirty="0"/>
              <a:t>catch (Exception e)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{}</a:t>
            </a:r>
          </a:p>
          <a:p>
            <a:pPr>
              <a:buFont typeface="Wingdings" pitchFamily="2" charset="2"/>
              <a:buNone/>
            </a:pPr>
            <a:r>
              <a:rPr lang="en-US" sz="1600" b="1" dirty="0"/>
              <a:t>finally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 err="1">
                <a:solidFill>
                  <a:srgbClr val="FF0000"/>
                </a:solidFill>
              </a:rPr>
              <a:t>conn.Close</a:t>
            </a:r>
            <a:r>
              <a:rPr lang="en-US" sz="1600" b="1" dirty="0"/>
              <a:t>();</a:t>
            </a:r>
          </a:p>
          <a:p>
            <a:pPr>
              <a:buFont typeface="Wingdings" pitchFamily="2" charset="2"/>
              <a:buNone/>
            </a:pPr>
            <a:r>
              <a:rPr lang="ru-RU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6537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dirty="0" err="1"/>
              <a:t>DataReader</a:t>
            </a:r>
            <a:r>
              <a:rPr lang="ru-RU" dirty="0"/>
              <a:t>. Методы.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79512" y="1124744"/>
            <a:ext cx="8712968" cy="4895056"/>
          </a:xfrm>
        </p:spPr>
        <p:txBody>
          <a:bodyPr>
            <a:normAutofit/>
          </a:bodyPr>
          <a:lstStyle/>
          <a:p>
            <a:pPr marL="0" indent="363538" algn="just">
              <a:buNone/>
            </a:pPr>
            <a:r>
              <a:rPr lang="ru-RU" sz="1800" b="1" dirty="0" err="1"/>
              <a:t>DataReader</a:t>
            </a:r>
            <a:r>
              <a:rPr lang="ru-RU" sz="1800" dirty="0"/>
              <a:t> представляет наиболее быстрый способ осмысленного доступа к данным и имеет следующие методы:</a:t>
            </a:r>
          </a:p>
          <a:p>
            <a:pPr marL="0" indent="363538" algn="just"/>
            <a:r>
              <a:rPr lang="ru-RU" sz="1800" b="1" i="1" dirty="0" err="1"/>
              <a:t>Read</a:t>
            </a:r>
            <a:r>
              <a:rPr lang="ru-RU" sz="1800" b="1" i="1" dirty="0"/>
              <a:t>() </a:t>
            </a:r>
            <a:r>
              <a:rPr lang="ru-RU" sz="1800" dirty="0"/>
              <a:t>- Перемещает курсор строки на следующую строку в потоке. Метод </a:t>
            </a:r>
            <a:r>
              <a:rPr lang="ru-RU" sz="1800" b="1" dirty="0" err="1"/>
              <a:t>Read</a:t>
            </a:r>
            <a:r>
              <a:rPr lang="ru-RU" sz="1800" b="1" dirty="0"/>
              <a:t>() </a:t>
            </a:r>
            <a:r>
              <a:rPr lang="ru-RU" sz="1800" dirty="0"/>
              <a:t>возвращает </a:t>
            </a:r>
            <a:r>
              <a:rPr lang="ru-RU" sz="1800" dirty="0" err="1"/>
              <a:t>true</a:t>
            </a:r>
            <a:r>
              <a:rPr lang="ru-RU" sz="1800" dirty="0"/>
              <a:t>, если существует следующая строка для прочтения:</a:t>
            </a:r>
          </a:p>
          <a:p>
            <a:pPr marL="0" indent="363538" algn="just"/>
            <a:endParaRPr lang="ru-RU" sz="1800" dirty="0"/>
          </a:p>
          <a:p>
            <a:pPr marL="0" indent="363538" algn="just">
              <a:buNone/>
            </a:pPr>
            <a:endParaRPr lang="ru-RU" sz="1800" dirty="0"/>
          </a:p>
          <a:p>
            <a:pPr marL="0" indent="363538" algn="just"/>
            <a:r>
              <a:rPr lang="ru-RU" sz="1800" b="1" i="1" dirty="0" err="1"/>
              <a:t>GetValue</a:t>
            </a:r>
            <a:r>
              <a:rPr lang="ru-RU" sz="1800" b="1" i="1" dirty="0"/>
              <a:t>() </a:t>
            </a:r>
            <a:r>
              <a:rPr lang="ru-RU" sz="1800" b="1" dirty="0"/>
              <a:t>- </a:t>
            </a:r>
            <a:r>
              <a:rPr lang="ru-RU" sz="1800" dirty="0"/>
              <a:t>Возвращает значение, сохраненное в поле с указанным именем столбцы или индексом, внутри текущей выбранной строки. Тип возвращенного значения — ближайший тип .NET, наиболее соответствующий “родному” значению, хранимому в источнике данных.</a:t>
            </a:r>
          </a:p>
          <a:p>
            <a:pPr marL="0" indent="363538" algn="just"/>
            <a:r>
              <a:rPr lang="ru-RU" sz="1800" b="1" i="1" dirty="0" err="1"/>
              <a:t>GetValues</a:t>
            </a:r>
            <a:r>
              <a:rPr lang="ru-RU" sz="1800" b="1" i="1" dirty="0"/>
              <a:t>() </a:t>
            </a:r>
            <a:r>
              <a:rPr lang="ru-RU" sz="1800" dirty="0"/>
              <a:t>- Сохраняет значения текущей строки в массиве. Количество сохраняемых полей зависит от размера массива, переданного этому методу. Можно использовать свойство </a:t>
            </a:r>
            <a:r>
              <a:rPr lang="ru-RU" sz="1800" dirty="0" err="1"/>
              <a:t>DataReader.FieldCount</a:t>
            </a:r>
            <a:r>
              <a:rPr lang="ru-RU" sz="1800" dirty="0"/>
              <a:t> для определения действительного числа полей в строке, и использовать эту информацию для создания массива нужного размера</a:t>
            </a:r>
          </a:p>
          <a:p>
            <a:pPr marL="0" indent="363538" algn="just">
              <a:buNone/>
            </a:pPr>
            <a:endParaRPr lang="ru-RU" sz="1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3568" y="2348880"/>
            <a:ext cx="746033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reader.Read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{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60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 err="1"/>
              <a:t>DataReader</a:t>
            </a:r>
            <a:r>
              <a:rPr lang="ru-RU" dirty="0"/>
              <a:t>. Методы.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363538" algn="just"/>
            <a:r>
              <a:rPr lang="en-US" sz="1800" b="1" i="1" dirty="0" err="1"/>
              <a:t>GetInt</a:t>
            </a:r>
            <a:r>
              <a:rPr lang="ru-RU" sz="1800" b="1" i="1" dirty="0"/>
              <a:t>32(), </a:t>
            </a:r>
            <a:r>
              <a:rPr lang="en-US" sz="1800" b="1" i="1" dirty="0" err="1"/>
              <a:t>GetChar</a:t>
            </a:r>
            <a:r>
              <a:rPr lang="ru-RU" sz="1800" b="1" i="1" dirty="0"/>
              <a:t>(), </a:t>
            </a:r>
            <a:r>
              <a:rPr lang="en-US" sz="1800" b="1" i="1" dirty="0" err="1"/>
              <a:t>GetDateTime</a:t>
            </a:r>
            <a:r>
              <a:rPr lang="ru-RU" sz="1800" b="1" i="1" dirty="0"/>
              <a:t>() </a:t>
            </a:r>
            <a:r>
              <a:rPr lang="ru-RU" sz="1800" dirty="0"/>
              <a:t>и т.д. - Эти методы возвращают значение поля с указанным индексом в текущей строке, причем тип данных специфицируется именем метода. Эти методы не поддерживают типов, допускающих null-значения.</a:t>
            </a:r>
          </a:p>
          <a:p>
            <a:pPr marL="0" lvl="0" indent="363538" algn="just"/>
            <a:r>
              <a:rPr lang="ru-RU" sz="1800" b="1" i="1" dirty="0" err="1"/>
              <a:t>NextResult</a:t>
            </a:r>
            <a:r>
              <a:rPr lang="ru-RU" sz="1800" b="1" i="1" dirty="0"/>
              <a:t>() </a:t>
            </a:r>
            <a:r>
              <a:rPr lang="ru-RU" sz="1800" dirty="0"/>
              <a:t>- Если команда, которая сгенерировала </a:t>
            </a:r>
            <a:r>
              <a:rPr lang="ru-RU" sz="1800" dirty="0" err="1"/>
              <a:t>DataReader</a:t>
            </a:r>
            <a:r>
              <a:rPr lang="ru-RU" sz="1800" dirty="0"/>
              <a:t>, возвратила более одного набора строк, этот метод перемещает указатель на следующий набор строк и устанавливает его непосредственно перед первой строкой.</a:t>
            </a:r>
          </a:p>
          <a:p>
            <a:pPr marL="0" lvl="0" indent="363538" algn="just"/>
            <a:r>
              <a:rPr lang="ru-RU" sz="1800" b="1" i="1" dirty="0" err="1"/>
              <a:t>Close</a:t>
            </a:r>
            <a:r>
              <a:rPr lang="ru-RU" sz="1800" b="1" i="1" dirty="0"/>
              <a:t>() </a:t>
            </a:r>
            <a:r>
              <a:rPr lang="ru-RU" sz="1800" dirty="0"/>
              <a:t>- Закрывает модуль  чтения.</a:t>
            </a:r>
            <a:endParaRPr lang="en-US" sz="1800" dirty="0"/>
          </a:p>
          <a:p>
            <a:pPr marL="0" lvl="0" indent="363538" algn="just">
              <a:buNone/>
            </a:pPr>
            <a:endParaRPr lang="en-US" sz="1800" dirty="0"/>
          </a:p>
          <a:p>
            <a:pPr marL="0" lvl="0" indent="363538" algn="just">
              <a:buNone/>
            </a:pPr>
            <a:r>
              <a:rPr lang="ru-RU" sz="1800" dirty="0"/>
              <a:t>Пример считывания данных:</a:t>
            </a:r>
            <a:endParaRPr lang="en-US" sz="1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00100" y="4214818"/>
            <a:ext cx="7143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while (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reader.Read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retList.Add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reader.GetValue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(0).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ToString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());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8606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6820F7A-5DF4-4222-8731-6F4BD2F5193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t">
            <a:noAutofit/>
          </a:bodyPr>
          <a:lstStyle/>
          <a:p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Транзакции</a:t>
            </a:r>
          </a:p>
        </p:txBody>
      </p:sp>
      <p:sp>
        <p:nvSpPr>
          <p:cNvPr id="38916" name="Content Placeholder 7">
            <a:extLst>
              <a:ext uri="{FF2B5EF4-FFF2-40B4-BE49-F238E27FC236}">
                <a16:creationId xmlns:a16="http://schemas.microsoft.com/office/drawing/2014/main" id="{6B2E1350-A40E-42BC-8408-71B6C1CDCC8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/>
            <a:r>
              <a:rPr lang="ru-RU" altLang="ru-RU" sz="2800" dirty="0">
                <a:latin typeface="Myriad Pro" pitchFamily="34" charset="0"/>
              </a:rPr>
              <a:t>Транзакция — это набор операций в базе данных, которые должны быть либо все выполнены, либо все не выполнены</a:t>
            </a:r>
            <a:endParaRPr lang="en-US" altLang="ru-RU" sz="2800" dirty="0">
              <a:latin typeface="Myriad Pro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5A64D70E-CDD9-455C-B6D0-EAB2D4063B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60708" y="147430"/>
            <a:ext cx="8229600" cy="7159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altLang="ru-RU" sz="2400" dirty="0"/>
              <a:t>Транзакции. Пример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8B8495D-F20E-48EC-A657-7DB53AA6CA6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0" y="863392"/>
            <a:ext cx="9036496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Выборка имени по идентификатору клиента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.Empty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.Empty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  <a:defRPr/>
            </a:pP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</a:t>
            </a: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.Format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"Select * from Customers where 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= {0}"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SqlDataReader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cmdSelect.ExecuteReader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())</a:t>
            </a:r>
          </a:p>
          <a:p>
            <a:pPr marL="0" indent="0">
              <a:buNone/>
              <a:defRPr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457200" lvl="1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dr.HasRows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pPr marL="457200" lvl="1" indent="0">
              <a:buNone/>
              <a:defRPr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881063" lvl="2" indent="0">
              <a:buNone/>
              <a:defRPr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dr.Read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881063" lvl="2" indent="0">
              <a:buNone/>
              <a:defRPr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FirstName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];</a:t>
            </a:r>
          </a:p>
          <a:p>
            <a:pPr marL="881063" lvl="2" indent="0">
              <a:buNone/>
              <a:defRPr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LastName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];</a:t>
            </a:r>
          </a:p>
          <a:p>
            <a:pPr marL="457200" lvl="1" indent="0">
              <a:buNone/>
              <a:defRPr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pPr marL="457200" lvl="1" indent="0">
              <a:buNone/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  <a:defRPr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altLang="ru-RU" sz="1800" dirty="0">
              <a:solidFill>
                <a:srgbClr val="000099"/>
              </a:solidFill>
              <a:latin typeface="Myriad Pro" pitchFamily="34" charset="0"/>
              <a:cs typeface="Arial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55FA7-0B89-43BF-907C-C33276E7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Транзакции. Пример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66B5463-99C7-4E44-B00C-5DBA69A965EA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0" y="1219200"/>
            <a:ext cx="8964488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  <a:defRPr/>
            </a:pP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Создание объектов команд для каждого шага операции.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  <a:defRPr/>
            </a:pP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cmdRemove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</a:p>
          <a:p>
            <a:pPr marL="0" indent="0">
              <a:buNone/>
              <a:defRPr/>
            </a:pP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.Format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"Delete from Customers where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= {0}"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  <a:defRPr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  <a:defRPr/>
            </a:pP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cmdInsert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.Format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"Insert Into 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CreditRisks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"(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FirstName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LastName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) Values"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</a:t>
            </a:r>
          </a:p>
          <a:p>
            <a:pPr marL="0" indent="0">
              <a:buNone/>
              <a:defRPr/>
            </a:pP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		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"({0}, '{1}', '{2}')"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custId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2AB9560F-28BB-44F4-BE0F-2F84FB079D6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r>
              <a:rPr lang="ru-RU" altLang="ru-RU" dirty="0"/>
              <a:t>Транзакции. Пример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92F8A6F-0234-4679-B666-D6E1D087D95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764704"/>
            <a:ext cx="8363272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  <a:defRPr/>
            </a:pPr>
            <a:r>
              <a:rPr lang="en-US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SqlTransaction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null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try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  <a:defRPr/>
            </a:pPr>
            <a:r>
              <a:rPr lang="ru-RU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cn.BeginTransaction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457200" lvl="1" indent="0">
              <a:buNone/>
              <a:defRPr/>
            </a:pPr>
            <a:r>
              <a:rPr lang="ru-RU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Включение команд в транзакцию</a:t>
            </a:r>
            <a:endParaRPr lang="ru-RU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cmdInsert.Transaction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cmdRemove.Transaction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457200" lvl="1" indent="0">
              <a:buNone/>
              <a:defRPr/>
            </a:pPr>
            <a:r>
              <a:rPr lang="ru-RU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Выполнение команд.</a:t>
            </a:r>
            <a:endParaRPr lang="ru-RU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cmdInsert.ExecuteNonQuery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cmdRemove.ExecuteNonQuery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tx.Commit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catch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b="1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Exception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ex)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Console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.WriteLine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ex.Message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457200" lvl="1" indent="0">
              <a:buNone/>
              <a:defRPr/>
            </a:pPr>
            <a:r>
              <a:rPr lang="ru-RU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При возникновении любой ошибки выполняется откат транзакции.</a:t>
            </a:r>
            <a:endParaRPr lang="ru-RU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tx.Rollback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Отсоединенные наборы данных в </a:t>
            </a:r>
            <a:r>
              <a:rPr lang="en-US" sz="2800" dirty="0"/>
              <a:t>ADO</a:t>
            </a:r>
            <a:r>
              <a:rPr lang="ru-RU" sz="2800" dirty="0"/>
              <a:t>.</a:t>
            </a:r>
            <a:r>
              <a:rPr lang="en-US" sz="2800" dirty="0"/>
              <a:t>NET</a:t>
            </a:r>
            <a:endParaRPr lang="ru-RU" sz="28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251520" y="1219200"/>
            <a:ext cx="8784976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000" b="0" dirty="0"/>
              <a:t>Подключение к базе и считывание данных при каждом запросе может быть дорогостоящей операцией. Зачастую более лучший вариант – считать данные один раз и работать с ними в памяти, а затем сохранить изменения в источнике. Для решения этой задачи и были созданы </a:t>
            </a:r>
            <a:r>
              <a:rPr lang="ru-RU" sz="2000" dirty="0"/>
              <a:t>отсоединенные наборы данных</a:t>
            </a:r>
            <a:r>
              <a:rPr lang="ru-RU" sz="2000" b="0" dirty="0"/>
              <a:t>:</a:t>
            </a:r>
          </a:p>
        </p:txBody>
      </p:sp>
      <p:pic>
        <p:nvPicPr>
          <p:cNvPr id="2050" name="Picture 2" descr="&amp;Mcy;&amp;ocy;&amp;dcy;&amp;iecy;&amp;lcy;&amp;softcy; &amp;ocy;&amp;bcy;&amp;hardcy;&amp;iecy;&amp;kcy;&amp;tcy;&amp;ocy;&amp;vcy; &amp;acy;&amp;dcy;&amp;acy;&amp;pcy;&amp;tcy;&amp;iecy;&amp;rcy;&amp;ocy;&amp;vcy; &amp;dcy;&amp;acy;&amp;ncy;&amp;ncy;&amp;ycy;&amp;khcy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429000"/>
            <a:ext cx="860202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DataSet</a:t>
            </a:r>
            <a:r>
              <a:rPr lang="ru-RU" sz="2800" dirty="0"/>
              <a:t> – средство локального хранения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07504" y="632619"/>
            <a:ext cx="8712968" cy="4800600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1800" dirty="0" err="1"/>
              <a:t>DataSet</a:t>
            </a:r>
            <a:r>
              <a:rPr lang="ru-RU" sz="1800" b="0" dirty="0"/>
              <a:t> является находящимся в оперативной памяти представлением данных, обеспечивающим согласованную реляционную программную модель </a:t>
            </a:r>
            <a:r>
              <a:rPr lang="ru-RU" sz="1800" b="0" i="1" dirty="0"/>
              <a:t>независимо от источника данных</a:t>
            </a:r>
            <a:r>
              <a:rPr lang="ru-RU" sz="1800" b="0" dirty="0"/>
              <a:t>. </a:t>
            </a:r>
            <a:endParaRPr lang="en-US" sz="1800" b="0" dirty="0"/>
          </a:p>
          <a:p>
            <a:pPr marL="0" indent="363538" algn="just">
              <a:buNone/>
            </a:pPr>
            <a:r>
              <a:rPr lang="ru-RU" sz="1800" dirty="0" err="1"/>
              <a:t>DataSet</a:t>
            </a:r>
            <a:r>
              <a:rPr lang="ru-RU" sz="1800" b="0" dirty="0"/>
              <a:t> представляет полный набор данных, включая таблицы, содержащие, упорядочивающие и ограничивающие данные, а также связи между таблицами.</a:t>
            </a:r>
          </a:p>
        </p:txBody>
      </p:sp>
      <p:pic>
        <p:nvPicPr>
          <p:cNvPr id="18434" name="Picture 2" descr="http://www.ezzylearning.com/tutorials/images/dataset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627784" y="2991942"/>
            <a:ext cx="3749424" cy="3749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8356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30921" y="55457"/>
            <a:ext cx="8229600" cy="715962"/>
          </a:xfrm>
        </p:spPr>
        <p:txBody>
          <a:bodyPr>
            <a:normAutofit/>
          </a:bodyPr>
          <a:lstStyle/>
          <a:p>
            <a:r>
              <a:rPr lang="ru-RU" sz="2400" dirty="0"/>
              <a:t>Некоторые методы</a:t>
            </a:r>
            <a:r>
              <a:rPr lang="en-US" sz="2400" dirty="0"/>
              <a:t> </a:t>
            </a:r>
            <a:r>
              <a:rPr lang="en-US" sz="2400" dirty="0" err="1"/>
              <a:t>DataSet</a:t>
            </a:r>
            <a:endParaRPr lang="ru-RU" sz="2400" dirty="0"/>
          </a:p>
        </p:txBody>
      </p:sp>
      <p:graphicFrame>
        <p:nvGraphicFramePr>
          <p:cNvPr id="2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77484"/>
              </p:ext>
            </p:extLst>
          </p:nvPr>
        </p:nvGraphicFramePr>
        <p:xfrm>
          <a:off x="40612" y="473184"/>
          <a:ext cx="9062775" cy="638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3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0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Метод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Описание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5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GetXml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 и </a:t>
                      </a: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GetXmlSchema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Возвращают строку данных (в разметке XML) или информацию схемы для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. Информация схемы — это структурированная информация вроде количества таблиц, их имен, столбцов, типов данных и установленных отношений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WriteXml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 и </a:t>
                      </a: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WriteXmlSchema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Сохраняют данные и схемы, представленные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 а файле или потоке формата XML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ReadXml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 и </a:t>
                      </a: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ReadXmlSchema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Создают таблицы в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 на основе существующего документа XML или документа схемы XML. Источником XML может быть файл или любой другой поток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6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Clear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Очищает все данные таблиц. Однако этот метод оставляет нетронутой информацию о схеме и отношениях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Copy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Возвращает точный дубликат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 с тем же набором таблиц, отношений и данных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Clone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Возвращает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 с той же структурой (таблицами и отношениями), но без данных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4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Merge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700" dirty="0"/>
                        <a:t>Принимает другой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, </a:t>
                      </a:r>
                      <a:r>
                        <a:rPr lang="ru-RU" sz="1700" dirty="0" err="1"/>
                        <a:t>DataTable</a:t>
                      </a:r>
                      <a:r>
                        <a:rPr lang="ru-RU" sz="1700" dirty="0"/>
                        <a:t> или коллекцию объектов </a:t>
                      </a:r>
                      <a:r>
                        <a:rPr lang="ru-RU" sz="1700" dirty="0" err="1"/>
                        <a:t>DataRow</a:t>
                      </a:r>
                      <a:r>
                        <a:rPr lang="ru-RU" sz="1700" dirty="0"/>
                        <a:t> и объединяет с текущим объектом </a:t>
                      </a:r>
                      <a:r>
                        <a:rPr lang="ru-RU" sz="1700" dirty="0" err="1"/>
                        <a:t>DataSet</a:t>
                      </a:r>
                      <a:r>
                        <a:rPr lang="ru-RU" sz="1700" dirty="0"/>
                        <a:t>, добавляя новые таблицы и объединяя данные в существующих</a:t>
                      </a:r>
                    </a:p>
                  </a:txBody>
                  <a:tcPr marL="88536" marR="88536" marT="88536" marB="8853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Способы работы с </a:t>
            </a:r>
            <a:r>
              <a:rPr lang="en-US" sz="2800" dirty="0" err="1"/>
              <a:t>DataSet</a:t>
            </a:r>
            <a:endParaRPr lang="ru-RU" sz="28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07504" y="1219200"/>
            <a:ext cx="9036496" cy="4800600"/>
          </a:xfrm>
        </p:spPr>
        <p:txBody>
          <a:bodyPr anchor="t"/>
          <a:lstStyle/>
          <a:p>
            <a:pPr marL="0" indent="363538" algn="just">
              <a:buNone/>
            </a:pPr>
            <a:r>
              <a:rPr lang="ru-RU" sz="2400" b="0" i="1" dirty="0"/>
              <a:t>Существует несколько способов работы с </a:t>
            </a:r>
            <a:r>
              <a:rPr lang="en-US" sz="2400" b="0" i="1" dirty="0" err="1"/>
              <a:t>DataSet</a:t>
            </a:r>
            <a:r>
              <a:rPr lang="ru-RU" sz="2400" b="0" i="1" dirty="0"/>
              <a:t>, которые могут применяться отдельно или в сочетании</a:t>
            </a:r>
            <a:r>
              <a:rPr lang="en-US" sz="2400" b="0" i="1" dirty="0"/>
              <a:t>.</a:t>
            </a:r>
            <a:r>
              <a:rPr lang="ru-RU" sz="2400" b="0" i="1" dirty="0"/>
              <a:t> Можно сделать следующее</a:t>
            </a:r>
            <a:r>
              <a:rPr lang="en-US" sz="2400" b="0" i="1" dirty="0"/>
              <a:t>:</a:t>
            </a:r>
            <a:endParaRPr lang="en-US" sz="2000" b="0" i="1" dirty="0"/>
          </a:p>
          <a:p>
            <a:pPr algn="just"/>
            <a:r>
              <a:rPr lang="ru-RU" sz="2400" dirty="0" err="1"/>
              <a:t>Программно</a:t>
            </a:r>
            <a:r>
              <a:rPr lang="en-US" sz="2400" dirty="0"/>
              <a:t> </a:t>
            </a:r>
            <a:r>
              <a:rPr lang="ru-RU" sz="2400" b="0" dirty="0"/>
              <a:t>создать </a:t>
            </a:r>
            <a:r>
              <a:rPr lang="en-US" sz="2400" b="0" dirty="0" err="1"/>
              <a:t>DataTable</a:t>
            </a:r>
            <a:r>
              <a:rPr lang="ru-RU" sz="2400" b="0" dirty="0"/>
              <a:t>, </a:t>
            </a:r>
            <a:r>
              <a:rPr lang="en-US" sz="2400" b="0" dirty="0" err="1"/>
              <a:t>DataRelation</a:t>
            </a:r>
            <a:r>
              <a:rPr lang="ru-RU" sz="2400" b="0" dirty="0"/>
              <a:t> и </a:t>
            </a:r>
            <a:r>
              <a:rPr lang="en-US" sz="2400" b="0" dirty="0"/>
              <a:t>Constraint</a:t>
            </a:r>
            <a:r>
              <a:rPr lang="ru-RU" sz="2400" b="0" dirty="0"/>
              <a:t> внутри </a:t>
            </a:r>
            <a:r>
              <a:rPr lang="en-US" sz="2400" b="0" dirty="0" err="1"/>
              <a:t>DataSet</a:t>
            </a:r>
            <a:r>
              <a:rPr lang="ru-RU" sz="2400" b="0" dirty="0"/>
              <a:t> и заполнить таблицы данными.</a:t>
            </a:r>
          </a:p>
          <a:p>
            <a:pPr algn="just"/>
            <a:r>
              <a:rPr lang="ru-RU" sz="2400" dirty="0"/>
              <a:t>Заполнить</a:t>
            </a:r>
            <a:r>
              <a:rPr lang="ru-RU" sz="2400" b="0" dirty="0"/>
              <a:t> </a:t>
            </a:r>
            <a:r>
              <a:rPr lang="en-US" sz="2400" b="0" dirty="0" err="1"/>
              <a:t>DataSet</a:t>
            </a:r>
            <a:r>
              <a:rPr lang="ru-RU" sz="2400" b="0" dirty="0"/>
              <a:t> таблицами данных из </a:t>
            </a:r>
            <a:r>
              <a:rPr lang="ru-RU" sz="2400" i="1" dirty="0"/>
              <a:t>существующего</a:t>
            </a:r>
            <a:r>
              <a:rPr lang="ru-RU" sz="2400" b="0" dirty="0"/>
              <a:t> реляционного источника данных с помощью </a:t>
            </a:r>
            <a:r>
              <a:rPr lang="ru-RU" sz="2400" b="0" dirty="0" err="1"/>
              <a:t>DataAdapter</a:t>
            </a:r>
            <a:r>
              <a:rPr lang="ru-RU" sz="2400" b="0" dirty="0"/>
              <a:t>.</a:t>
            </a:r>
          </a:p>
          <a:p>
            <a:pPr algn="just"/>
            <a:r>
              <a:rPr lang="ru-RU" sz="2400" dirty="0"/>
              <a:t>Загрузить</a:t>
            </a:r>
            <a:r>
              <a:rPr lang="ru-RU" sz="2400" b="0" dirty="0"/>
              <a:t> и </a:t>
            </a:r>
            <a:r>
              <a:rPr lang="ru-RU" sz="2400" dirty="0"/>
              <a:t>сохранить</a:t>
            </a:r>
            <a:r>
              <a:rPr lang="ru-RU" sz="2400" b="0" dirty="0"/>
              <a:t> содержимое </a:t>
            </a:r>
            <a:r>
              <a:rPr lang="en-US" sz="2400" b="0" dirty="0" err="1"/>
              <a:t>DataSet</a:t>
            </a:r>
            <a:r>
              <a:rPr lang="ru-RU" sz="2400" b="0" dirty="0"/>
              <a:t> с помощью </a:t>
            </a:r>
            <a:r>
              <a:rPr lang="ru-RU" sz="2400" dirty="0"/>
              <a:t>XML-кода</a:t>
            </a:r>
            <a:r>
              <a:rPr lang="ru-RU" sz="2400" b="0" dirty="0"/>
              <a:t>. </a:t>
            </a:r>
          </a:p>
          <a:p>
            <a:pPr marL="0" indent="363538" algn="just">
              <a:buNone/>
            </a:pPr>
            <a:endParaRPr lang="ru-RU" sz="2000" b="0" i="1" dirty="0"/>
          </a:p>
        </p:txBody>
      </p:sp>
    </p:spTree>
    <p:extLst>
      <p:ext uri="{BB962C8B-B14F-4D97-AF65-F5344CB8AC3E}">
        <p14:creationId xmlns:p14="http://schemas.microsoft.com/office/powerpoint/2010/main" val="19857532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715962"/>
          </a:xfrm>
        </p:spPr>
        <p:txBody>
          <a:bodyPr>
            <a:noAutofit/>
          </a:bodyPr>
          <a:lstStyle/>
          <a:p>
            <a:r>
              <a:rPr lang="ru-RU" sz="2400" dirty="0"/>
              <a:t>Адаптеры данных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79512" y="979004"/>
            <a:ext cx="8651304" cy="1441884"/>
          </a:xfrm>
        </p:spPr>
        <p:txBody>
          <a:bodyPr/>
          <a:lstStyle/>
          <a:p>
            <a:pPr marL="0" indent="363538" algn="just">
              <a:buNone/>
            </a:pPr>
            <a:r>
              <a:rPr lang="en-US" sz="2000" dirty="0" err="1"/>
              <a:t>DataAdapter</a:t>
            </a:r>
            <a:r>
              <a:rPr lang="en-US" sz="2000" dirty="0"/>
              <a:t>. </a:t>
            </a:r>
            <a:r>
              <a:rPr lang="ru-RU" sz="2000" b="0" dirty="0"/>
              <a:t>Класс адаптеров данных применяется для заполнения наборов данных </a:t>
            </a:r>
            <a:r>
              <a:rPr lang="ru-RU" sz="2000" b="0" dirty="0" err="1"/>
              <a:t>DataSet</a:t>
            </a:r>
            <a:r>
              <a:rPr lang="ru-RU" sz="2000" b="0" dirty="0"/>
              <a:t> с помощью объектов </a:t>
            </a:r>
            <a:r>
              <a:rPr lang="ru-RU" sz="2000" b="0" dirty="0" err="1"/>
              <a:t>DataTable</a:t>
            </a:r>
            <a:r>
              <a:rPr lang="ru-RU" sz="2000" b="0" dirty="0"/>
              <a:t>; кроме того, они могут отправлять измененные </a:t>
            </a:r>
            <a:r>
              <a:rPr lang="ru-RU" sz="2000" b="0" dirty="0" err="1"/>
              <a:t>DataTable</a:t>
            </a:r>
            <a:r>
              <a:rPr lang="ru-RU" sz="2000" b="0" dirty="0"/>
              <a:t> назад в базу данных для обработки.</a:t>
            </a:r>
            <a:endParaRPr lang="en-US" sz="2000" b="0" dirty="0"/>
          </a:p>
        </p:txBody>
      </p:sp>
      <p:pic>
        <p:nvPicPr>
          <p:cNvPr id="4101" name="Picture 5" descr="http://www.visualcplusdotnet.com/visualcplusdotnet27_files/visualcplusdotnetchap270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20888"/>
            <a:ext cx="6696744" cy="380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2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46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715962"/>
          </a:xfrm>
        </p:spPr>
        <p:txBody>
          <a:bodyPr>
            <a:noAutofit/>
          </a:bodyPr>
          <a:lstStyle/>
          <a:p>
            <a:r>
              <a:rPr lang="en-US" sz="2400" dirty="0" err="1"/>
              <a:t>DataAdapter</a:t>
            </a:r>
            <a:r>
              <a:rPr lang="en-US" sz="2400" dirty="0"/>
              <a:t>. </a:t>
            </a:r>
            <a:r>
              <a:rPr lang="ru-RU" sz="2400" dirty="0"/>
              <a:t>Свойства и методы.</a:t>
            </a:r>
            <a:br>
              <a:rPr lang="ru-RU" sz="2400" dirty="0"/>
            </a:br>
            <a:endParaRPr lang="ru-RU" sz="2400" dirty="0"/>
          </a:p>
        </p:txBody>
      </p:sp>
      <p:graphicFrame>
        <p:nvGraphicFramePr>
          <p:cNvPr id="2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661197"/>
              </p:ext>
            </p:extLst>
          </p:nvPr>
        </p:nvGraphicFramePr>
        <p:xfrm>
          <a:off x="0" y="764705"/>
          <a:ext cx="9036496" cy="5483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4497">
                  <a:extLst>
                    <a:ext uri="{9D8B030D-6E8A-4147-A177-3AD203B41FA5}">
                      <a16:colId xmlns:a16="http://schemas.microsoft.com/office/drawing/2014/main" val="2454001511"/>
                    </a:ext>
                  </a:extLst>
                </a:gridCol>
              </a:tblGrid>
              <a:tr h="38207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Методы</a:t>
                      </a: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200" dirty="0">
                        <a:solidFill>
                          <a:schemeClr val="accent6"/>
                        </a:solidFill>
                      </a:endParaRPr>
                    </a:p>
                  </a:txBody>
                  <a:tcPr marL="4428" marR="4428" marT="4428" marB="4428" anchor="ctr"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Fill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dirty="0"/>
                        <a:t>Выполняет команду SQL SELECT, указанную в свойстве </a:t>
                      </a:r>
                      <a:r>
                        <a:rPr lang="ru-RU" dirty="0" err="1"/>
                        <a:t>SelectCommand</a:t>
                      </a:r>
                      <a:r>
                        <a:rPr lang="ru-RU" dirty="0"/>
                        <a:t>, для запроса к базе данных и загрузки этих данных в объект </a:t>
                      </a:r>
                      <a:r>
                        <a:rPr lang="ru-RU" dirty="0" err="1"/>
                        <a:t>DataTable</a:t>
                      </a:r>
                      <a:endParaRPr lang="ru-RU" dirty="0"/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2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Update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()</a:t>
                      </a: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dirty="0"/>
                        <a:t>Выполняет команды SQL INSERT, UPDATE и DELETE, указанные свойствами </a:t>
                      </a:r>
                      <a:r>
                        <a:rPr lang="ru-RU" dirty="0" err="1"/>
                        <a:t>InsertCommand</a:t>
                      </a:r>
                      <a:r>
                        <a:rPr lang="ru-RU" dirty="0"/>
                        <a:t>, </a:t>
                      </a:r>
                      <a:r>
                        <a:rPr lang="ru-RU" dirty="0" err="1"/>
                        <a:t>UpdateCommand</a:t>
                      </a:r>
                      <a:r>
                        <a:rPr lang="ru-RU" dirty="0"/>
                        <a:t> и </a:t>
                      </a:r>
                      <a:r>
                        <a:rPr lang="ru-RU" dirty="0" err="1"/>
                        <a:t>DeleteCommand</a:t>
                      </a:r>
                      <a:r>
                        <a:rPr lang="ru-RU" dirty="0"/>
                        <a:t>, для сохранения в базе данных изменений, выполненных в </a:t>
                      </a:r>
                      <a:r>
                        <a:rPr lang="ru-RU" dirty="0" err="1"/>
                        <a:t>DataTable</a:t>
                      </a:r>
                      <a:endParaRPr lang="ru-RU" dirty="0"/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7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Свойства</a:t>
                      </a: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200" dirty="0">
                        <a:solidFill>
                          <a:schemeClr val="accent6"/>
                        </a:solidFill>
                      </a:endParaRPr>
                    </a:p>
                  </a:txBody>
                  <a:tcPr marL="4428" marR="4428" marT="4428" marB="4428" anchor="ctr"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3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SelectCommand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, </a:t>
                      </a:r>
                      <a:br>
                        <a:rPr lang="ru-RU" sz="2200" dirty="0">
                          <a:solidFill>
                            <a:schemeClr val="accent6"/>
                          </a:solidFill>
                        </a:rPr>
                      </a:b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InsertCommand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, </a:t>
                      </a:r>
                      <a:br>
                        <a:rPr lang="ru-RU" sz="2200" dirty="0">
                          <a:solidFill>
                            <a:schemeClr val="accent6"/>
                          </a:solidFill>
                        </a:rPr>
                      </a:b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UpdateCommand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, </a:t>
                      </a:r>
                      <a:br>
                        <a:rPr lang="ru-RU" sz="2200" dirty="0">
                          <a:solidFill>
                            <a:schemeClr val="accent6"/>
                          </a:solidFill>
                        </a:rPr>
                      </a:br>
                      <a:r>
                        <a:rPr lang="ru-RU" sz="2200" dirty="0" err="1">
                          <a:solidFill>
                            <a:schemeClr val="accent6"/>
                          </a:solidFill>
                        </a:rPr>
                        <a:t>DeleteCommand</a:t>
                      </a:r>
                      <a:endParaRPr lang="ru-RU" sz="2200" dirty="0">
                        <a:solidFill>
                          <a:schemeClr val="accent6"/>
                        </a:solidFill>
                      </a:endParaRP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dirty="0"/>
                        <a:t>Содержат SQL-команды, отправляемые в хранилище данных при вызовах методов </a:t>
                      </a:r>
                      <a:r>
                        <a:rPr lang="ru-RU" dirty="0" err="1"/>
                        <a:t>Fill</a:t>
                      </a:r>
                      <a:r>
                        <a:rPr lang="ru-RU" dirty="0"/>
                        <a:t>() и </a:t>
                      </a:r>
                      <a:r>
                        <a:rPr lang="ru-RU" dirty="0" err="1"/>
                        <a:t>Update</a:t>
                      </a:r>
                      <a:r>
                        <a:rPr lang="ru-RU" dirty="0"/>
                        <a:t>()</a:t>
                      </a:r>
                    </a:p>
                  </a:txBody>
                  <a:tcPr marL="4428" marR="4428" marT="4428" marB="44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4169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922114"/>
          </a:xfrm>
        </p:spPr>
        <p:txBody>
          <a:bodyPr/>
          <a:lstStyle/>
          <a:p>
            <a:r>
              <a:rPr lang="ru-RU" dirty="0"/>
              <a:t>Наполнение </a:t>
            </a:r>
            <a:r>
              <a:rPr lang="en-US" dirty="0" err="1"/>
              <a:t>DataSet</a:t>
            </a:r>
            <a:r>
              <a:rPr lang="en-US" dirty="0"/>
              <a:t> </a:t>
            </a:r>
            <a:r>
              <a:rPr lang="ru-RU" dirty="0"/>
              <a:t>данными из существующей базы данных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9" name="Объект 8"/>
          <p:cNvSpPr txBox="1">
            <a:spLocks noGrp="1"/>
          </p:cNvSpPr>
          <p:nvPr>
            <p:ph idx="1"/>
          </p:nvPr>
        </p:nvSpPr>
        <p:spPr>
          <a:xfrm>
            <a:off x="107504" y="1196752"/>
            <a:ext cx="8856984" cy="5066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 err="1"/>
              <a:t>SqlConnection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conn</a:t>
            </a:r>
            <a:r>
              <a:rPr lang="en-US" sz="1600" dirty="0"/>
              <a:t> = new </a:t>
            </a:r>
            <a:r>
              <a:rPr lang="en-US" sz="1600" dirty="0" err="1"/>
              <a:t>SqlConnection</a:t>
            </a:r>
            <a:r>
              <a:rPr lang="en-US" sz="1600" dirty="0"/>
              <a:t>(</a:t>
            </a:r>
            <a:r>
              <a:rPr lang="en-US" sz="1600" dirty="0" err="1"/>
              <a:t>connectionString</a:t>
            </a:r>
            <a:r>
              <a:rPr lang="en-US" sz="1600" dirty="0"/>
              <a:t>);</a:t>
            </a:r>
          </a:p>
          <a:p>
            <a:pPr>
              <a:buNone/>
            </a:pPr>
            <a:r>
              <a:rPr lang="en-US" sz="1600" dirty="0"/>
              <a:t>string </a:t>
            </a:r>
            <a:r>
              <a:rPr lang="en-US" sz="1600" dirty="0">
                <a:solidFill>
                  <a:srgbClr val="FF0000"/>
                </a:solidFill>
              </a:rPr>
              <a:t>command</a:t>
            </a:r>
            <a:r>
              <a:rPr lang="en-US" sz="1600" dirty="0"/>
              <a:t> = "SELECT * FROM Employees";</a:t>
            </a:r>
          </a:p>
          <a:p>
            <a:pPr>
              <a:buNone/>
            </a:pPr>
            <a:r>
              <a:rPr lang="en-US" sz="1600" dirty="0"/>
              <a:t>        </a:t>
            </a:r>
          </a:p>
          <a:p>
            <a:pPr>
              <a:buNone/>
            </a:pPr>
            <a:r>
              <a:rPr lang="en-US" sz="1600" dirty="0" err="1"/>
              <a:t>SqlDataAdapter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adapter</a:t>
            </a:r>
            <a:r>
              <a:rPr lang="en-US" sz="1600" dirty="0"/>
              <a:t> = new </a:t>
            </a:r>
            <a:r>
              <a:rPr lang="en-US" sz="1600" dirty="0" err="1"/>
              <a:t>SqlDataAdapter</a:t>
            </a:r>
            <a:r>
              <a:rPr lang="en-US" sz="1600" dirty="0"/>
              <a:t>(command, conn);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// </a:t>
            </a:r>
            <a:r>
              <a:rPr lang="ru-RU" sz="1600" dirty="0"/>
              <a:t>Заполнить </a:t>
            </a:r>
            <a:r>
              <a:rPr lang="en-US" sz="1600" dirty="0" err="1"/>
              <a:t>DataSet</a:t>
            </a:r>
            <a:endParaRPr lang="en-US" sz="1600" dirty="0"/>
          </a:p>
          <a:p>
            <a:pPr>
              <a:buNone/>
            </a:pPr>
            <a:r>
              <a:rPr lang="en-US" sz="1600" dirty="0" err="1">
                <a:highlight>
                  <a:srgbClr val="FFFF00"/>
                </a:highlight>
              </a:rPr>
              <a:t>DataSet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</a:rPr>
              <a:t>dataset</a:t>
            </a:r>
            <a:r>
              <a:rPr lang="en-US" sz="1600" dirty="0">
                <a:highlight>
                  <a:srgbClr val="FFFF00"/>
                </a:highlight>
              </a:rPr>
              <a:t> = new </a:t>
            </a:r>
            <a:r>
              <a:rPr lang="en-US" sz="1600" dirty="0" err="1">
                <a:highlight>
                  <a:srgbClr val="FFFF00"/>
                </a:highlight>
              </a:rPr>
              <a:t>DataSet</a:t>
            </a:r>
            <a:r>
              <a:rPr lang="en-US" sz="1600" dirty="0">
                <a:highlight>
                  <a:srgbClr val="FFFF00"/>
                </a:highlight>
              </a:rPr>
              <a:t>();</a:t>
            </a:r>
          </a:p>
          <a:p>
            <a:pPr>
              <a:buNone/>
            </a:pPr>
            <a:r>
              <a:rPr lang="en-US" sz="16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adapter.Fill</a:t>
            </a:r>
            <a:r>
              <a:rPr lang="en-US" sz="1600" b="1" dirty="0">
                <a:highlight>
                  <a:srgbClr val="FFFF00"/>
                </a:highlight>
              </a:rPr>
              <a:t>(dataset, "Employees");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// </a:t>
            </a:r>
            <a:r>
              <a:rPr lang="ru-RU" sz="1600" dirty="0"/>
              <a:t>Используем </a:t>
            </a:r>
            <a:r>
              <a:rPr lang="en-US" sz="1600" dirty="0" err="1"/>
              <a:t>DataSet</a:t>
            </a:r>
            <a:r>
              <a:rPr lang="ru-RU" sz="1600" dirty="0"/>
              <a:t> чтобы</a:t>
            </a:r>
            <a:r>
              <a:rPr lang="en-US" sz="1600" dirty="0"/>
              <a:t> </a:t>
            </a:r>
            <a:r>
              <a:rPr lang="ru-RU" sz="1600" dirty="0"/>
              <a:t>вывести все строки таблицы </a:t>
            </a:r>
            <a:r>
              <a:rPr lang="en-US" sz="1600" dirty="0"/>
              <a:t>Employees </a:t>
            </a:r>
            <a:r>
              <a:rPr lang="ru-RU" sz="1600" dirty="0"/>
              <a:t>в элемент </a:t>
            </a:r>
            <a:r>
              <a:rPr lang="en-US" sz="1600" dirty="0" err="1"/>
              <a:t>LabelInfo</a:t>
            </a:r>
            <a:endParaRPr lang="en-US" sz="1600" dirty="0"/>
          </a:p>
          <a:p>
            <a:pPr>
              <a:buNone/>
            </a:pPr>
            <a:r>
              <a:rPr lang="en-US" sz="1600" dirty="0" err="1"/>
              <a:t>foreach</a:t>
            </a:r>
            <a:r>
              <a:rPr lang="en-US" sz="1600" dirty="0"/>
              <a:t> (</a:t>
            </a:r>
            <a:r>
              <a:rPr lang="en-US" sz="1600" dirty="0" err="1">
                <a:solidFill>
                  <a:srgbClr val="FF0000"/>
                </a:solidFill>
              </a:rPr>
              <a:t>DataRow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row in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dataset.Tables</a:t>
            </a:r>
            <a:r>
              <a:rPr lang="en-US" sz="1600" dirty="0"/>
              <a:t>["Employees"].Rows)</a:t>
            </a:r>
          </a:p>
          <a:p>
            <a:pPr>
              <a:buNone/>
            </a:pPr>
            <a:r>
              <a:rPr lang="en-US" sz="1600" dirty="0"/>
              <a:t>        {</a:t>
            </a:r>
          </a:p>
          <a:p>
            <a:pPr>
              <a:buNone/>
            </a:pPr>
            <a:r>
              <a:rPr lang="en-US" sz="1600" dirty="0"/>
              <a:t>           </a:t>
            </a:r>
            <a:r>
              <a:rPr lang="en-US" sz="1600" dirty="0" err="1"/>
              <a:t>LabelInfo.Text</a:t>
            </a:r>
            <a:r>
              <a:rPr lang="en-US" sz="1600" dirty="0"/>
              <a:t> += </a:t>
            </a:r>
            <a:r>
              <a:rPr lang="en-US" sz="1600" dirty="0" err="1"/>
              <a:t>String.Format</a:t>
            </a:r>
            <a:r>
              <a:rPr lang="en-US" sz="1600" dirty="0"/>
              <a:t>("&lt;li&gt;{0} {1} {2} (&lt;</a:t>
            </a:r>
            <a:r>
              <a:rPr lang="en-US" sz="1600" dirty="0" err="1"/>
              <a:t>em</a:t>
            </a:r>
            <a:r>
              <a:rPr lang="en-US" sz="1600" dirty="0"/>
              <a:t>&gt;{3:d}&lt;/</a:t>
            </a:r>
            <a:r>
              <a:rPr lang="en-US" sz="1600" dirty="0" err="1"/>
              <a:t>em</a:t>
            </a:r>
            <a:r>
              <a:rPr lang="en-US" sz="1600" dirty="0"/>
              <a:t>&gt;)&lt;</a:t>
            </a:r>
            <a:r>
              <a:rPr lang="en-US" sz="1600" dirty="0" err="1"/>
              <a:t>br</a:t>
            </a:r>
            <a:r>
              <a:rPr lang="en-US" sz="1600" dirty="0"/>
              <a:t>&gt;",</a:t>
            </a:r>
          </a:p>
          <a:p>
            <a:pPr>
              <a:buNone/>
            </a:pPr>
            <a:r>
              <a:rPr lang="en-US" sz="1600" dirty="0"/>
              <a:t>                    row["</a:t>
            </a:r>
            <a:r>
              <a:rPr lang="en-US" sz="1600" dirty="0" err="1"/>
              <a:t>EmployeeID</a:t>
            </a:r>
            <a:r>
              <a:rPr lang="en-US" sz="1600" dirty="0"/>
              <a:t>"].</a:t>
            </a:r>
            <a:r>
              <a:rPr lang="en-US" sz="1600" dirty="0" err="1"/>
              <a:t>ToString</a:t>
            </a:r>
            <a:r>
              <a:rPr lang="en-US" sz="1600" dirty="0"/>
              <a:t>(), row["</a:t>
            </a:r>
            <a:r>
              <a:rPr lang="en-US" sz="1600" dirty="0" err="1"/>
              <a:t>LastName</a:t>
            </a:r>
            <a:r>
              <a:rPr lang="en-US" sz="1600" dirty="0"/>
              <a:t>"],</a:t>
            </a:r>
          </a:p>
          <a:p>
            <a:pPr>
              <a:buNone/>
            </a:pPr>
            <a:r>
              <a:rPr lang="en-US" sz="1600" dirty="0"/>
              <a:t>                    row["</a:t>
            </a:r>
            <a:r>
              <a:rPr lang="en-US" sz="1600" dirty="0" err="1"/>
              <a:t>FirstName</a:t>
            </a:r>
            <a:r>
              <a:rPr lang="en-US" sz="1600" dirty="0"/>
              <a:t>"], row["</a:t>
            </a:r>
            <a:r>
              <a:rPr lang="en-US" sz="1600" dirty="0" err="1"/>
              <a:t>BirthDate</a:t>
            </a:r>
            <a:r>
              <a:rPr lang="en-US" sz="1600" dirty="0"/>
              <a:t>"]);</a:t>
            </a:r>
          </a:p>
          <a:p>
            <a:pPr>
              <a:buNone/>
            </a:pPr>
            <a:r>
              <a:rPr lang="en-US" sz="1600" dirty="0"/>
              <a:t>        }</a:t>
            </a:r>
          </a:p>
          <a:p>
            <a:pPr>
              <a:buNone/>
            </a:pPr>
            <a:endParaRPr lang="ru-RU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Манипуляции со строками. </a:t>
            </a:r>
            <a:r>
              <a:rPr lang="en-US" sz="2400" dirty="0" err="1"/>
              <a:t>DataTables.DataRow</a:t>
            </a:r>
            <a:endParaRPr lang="ru-RU" sz="24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107504" y="919746"/>
            <a:ext cx="8944956" cy="697632"/>
          </a:xfrm>
        </p:spPr>
        <p:txBody>
          <a:bodyPr anchor="t"/>
          <a:lstStyle/>
          <a:p>
            <a:pPr marL="0" indent="363538" algn="just">
              <a:buNone/>
            </a:pPr>
            <a:r>
              <a:rPr lang="ru-RU" sz="1800" b="0" dirty="0"/>
              <a:t>Одна запись в таблице содержится в объекте </a:t>
            </a:r>
            <a:r>
              <a:rPr lang="en-US" sz="1800" b="0" dirty="0" err="1"/>
              <a:t>DataRow</a:t>
            </a:r>
            <a:r>
              <a:rPr lang="ru-RU" sz="1800" b="0" dirty="0"/>
              <a:t>, который может хранить </a:t>
            </a:r>
            <a:r>
              <a:rPr lang="ru-RU" sz="1800" dirty="0"/>
              <a:t>несколько версий записей</a:t>
            </a:r>
            <a:r>
              <a:rPr lang="ru-RU" sz="1800" b="0" dirty="0"/>
              <a:t>: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701715"/>
              </p:ext>
            </p:extLst>
          </p:nvPr>
        </p:nvGraphicFramePr>
        <p:xfrm>
          <a:off x="91540" y="1534554"/>
          <a:ext cx="9036496" cy="5127662"/>
        </p:xfrm>
        <a:graphic>
          <a:graphicData uri="http://schemas.openxmlformats.org/drawingml/2006/table">
            <a:tbl>
              <a:tblPr/>
              <a:tblGrid>
                <a:gridCol w="275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9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</a:t>
                      </a: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DataViewRowState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0000">
                          <a:schemeClr val="bg2"/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800000" scaled="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2400" b="1" spc="100" baseline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Описание</a:t>
                      </a:r>
                      <a:endParaRPr lang="ru-RU" sz="2400" b="1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79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CurrentRows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Текущие строки, включая не изменившиеся, добавленные и измененные.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983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Deleted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Удаленная строка.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779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ModifiedCurrent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Текущая версия, которая является измененной версией исходных данных.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765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ModifiedOriginal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Исходная версия всех измененных строк. Текущая версия доступна при использовании параметра </a:t>
                      </a:r>
                      <a:r>
                        <a:rPr lang="ru-RU" sz="1600" b="1" spc="100" baseline="0" dirty="0" err="1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ModifiedCurrent</a:t>
                      </a: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983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Added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Новая строка.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983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Отсутствует.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779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OriginalRows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Исходные строки, включая неизменившиеся и удаленные.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983">
                <a:tc>
                  <a:txBody>
                    <a:bodyPr/>
                    <a:lstStyle/>
                    <a:p>
                      <a:pPr marL="0" marR="9525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kern="1200" spc="1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Unchanged</a:t>
                      </a:r>
                      <a:endParaRPr lang="ru-RU" sz="2400" b="1" kern="1200" spc="1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ru-RU" sz="1600" spc="100" baseline="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Неизменившаяся строка.</a:t>
                      </a:r>
                      <a:endParaRPr lang="ru-RU" sz="1600" spc="100" baseline="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0" y="-4821"/>
            <a:ext cx="8892479" cy="715962"/>
          </a:xfrm>
        </p:spPr>
        <p:txBody>
          <a:bodyPr>
            <a:noAutofit/>
          </a:bodyPr>
          <a:lstStyle/>
          <a:p>
            <a:r>
              <a:rPr lang="ru-RU" sz="2800" dirty="0"/>
              <a:t>Схема совместной работы объектов </a:t>
            </a:r>
            <a:r>
              <a:rPr lang="en-US" sz="2800" dirty="0"/>
              <a:t>ADO .NET</a:t>
            </a:r>
            <a:br>
              <a:rPr lang="ru-RU" sz="2800" dirty="0"/>
            </a:br>
            <a:endParaRPr lang="ru-RU" sz="2800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60551"/>
            <a:ext cx="6768752" cy="6210830"/>
          </a:xfrm>
        </p:spPr>
      </p:pic>
    </p:spTree>
    <p:extLst>
      <p:ext uri="{BB962C8B-B14F-4D97-AF65-F5344CB8AC3E}">
        <p14:creationId xmlns:p14="http://schemas.microsoft.com/office/powerpoint/2010/main" val="1405184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15962"/>
          </a:xfrm>
        </p:spPr>
        <p:txBody>
          <a:bodyPr>
            <a:noAutofit/>
          </a:bodyPr>
          <a:lstStyle/>
          <a:p>
            <a:r>
              <a:rPr lang="ru-RU" sz="2400" dirty="0"/>
              <a:t>Основные этапы работы с внешними данными через отсоединенный набор ADO.NET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21065" y="1196752"/>
            <a:ext cx="9001000" cy="4967064"/>
          </a:xfrm>
        </p:spPr>
        <p:txBody>
          <a:bodyPr anchor="t">
            <a:noAutofit/>
          </a:bodyPr>
          <a:lstStyle/>
          <a:p>
            <a:pPr algn="just"/>
            <a:r>
              <a:rPr lang="ru-RU" sz="2200" dirty="0"/>
              <a:t>Подключение к существующей базе данных </a:t>
            </a:r>
            <a:r>
              <a:rPr lang="ru-RU" sz="2200" b="0" dirty="0"/>
              <a:t>- создается объект </a:t>
            </a:r>
            <a:r>
              <a:rPr lang="ru-RU" sz="2200" b="0" dirty="0" err="1"/>
              <a:t>Connection</a:t>
            </a:r>
            <a:r>
              <a:rPr lang="ru-RU" sz="2200" b="0" dirty="0"/>
              <a:t>.</a:t>
            </a:r>
          </a:p>
          <a:p>
            <a:pPr algn="just"/>
            <a:r>
              <a:rPr lang="ru-RU" sz="2200" dirty="0"/>
              <a:t>Создание </a:t>
            </a:r>
            <a:r>
              <a:rPr lang="ru-RU" sz="2200" dirty="0" err="1"/>
              <a:t>DataAdapter</a:t>
            </a:r>
            <a:r>
              <a:rPr lang="ru-RU" sz="2200" dirty="0"/>
              <a:t> </a:t>
            </a:r>
            <a:r>
              <a:rPr lang="ru-RU" sz="2200" b="0" dirty="0"/>
              <a:t>для работы с запрашиваемыми данными.</a:t>
            </a:r>
          </a:p>
          <a:p>
            <a:pPr algn="just"/>
            <a:r>
              <a:rPr lang="ru-RU" sz="2200" dirty="0"/>
              <a:t>Создание объект </a:t>
            </a:r>
            <a:r>
              <a:rPr lang="ru-RU" sz="2200" dirty="0" err="1"/>
              <a:t>DataSet</a:t>
            </a:r>
            <a:r>
              <a:rPr lang="ru-RU" sz="2200" dirty="0"/>
              <a:t> </a:t>
            </a:r>
            <a:r>
              <a:rPr lang="ru-RU" sz="2200" b="0" dirty="0"/>
              <a:t>для локального хранения данных</a:t>
            </a:r>
            <a:r>
              <a:rPr lang="en-US" sz="2200" b="0" dirty="0"/>
              <a:t>;</a:t>
            </a:r>
          </a:p>
          <a:p>
            <a:pPr algn="just"/>
            <a:r>
              <a:rPr lang="ru-RU" sz="2200" dirty="0"/>
              <a:t>Заполнение данными </a:t>
            </a:r>
            <a:r>
              <a:rPr lang="ru-RU" sz="2200" dirty="0" err="1"/>
              <a:t>DataSet</a:t>
            </a:r>
            <a:r>
              <a:rPr lang="ru-RU" sz="2200" b="0" dirty="0"/>
              <a:t> через </a:t>
            </a:r>
            <a:r>
              <a:rPr lang="ru-RU" sz="2200" b="0" dirty="0" err="1"/>
              <a:t>DataAdapter</a:t>
            </a:r>
            <a:r>
              <a:rPr lang="ru-RU" sz="2200" b="0" dirty="0"/>
              <a:t>  соединение с источником данных разрывается.</a:t>
            </a:r>
          </a:p>
          <a:p>
            <a:pPr algn="just"/>
            <a:r>
              <a:rPr lang="ru-RU" sz="2200" dirty="0"/>
              <a:t>Использование объекта </a:t>
            </a:r>
            <a:r>
              <a:rPr lang="ru-RU" sz="2200" dirty="0" err="1"/>
              <a:t>DataSet</a:t>
            </a:r>
            <a:r>
              <a:rPr lang="ru-RU" sz="2200" b="0" dirty="0"/>
              <a:t> клиентской программой для проведения операций</a:t>
            </a:r>
            <a:r>
              <a:rPr lang="en-US" sz="2200" b="0" dirty="0"/>
              <a:t>: </a:t>
            </a:r>
            <a:r>
              <a:rPr lang="ru-RU" sz="2200" b="0" dirty="0"/>
              <a:t>визуализации, изменения, удаления, добавления и т.п. тем или иным способом.</a:t>
            </a:r>
          </a:p>
          <a:p>
            <a:pPr algn="just"/>
            <a:r>
              <a:rPr lang="ru-RU" sz="2200" dirty="0"/>
              <a:t>Сохранение изменений во внешнем источнике данных</a:t>
            </a:r>
            <a:r>
              <a:rPr lang="en-US" sz="2200" b="0" dirty="0"/>
              <a:t>:</a:t>
            </a:r>
            <a:r>
              <a:rPr lang="ru-RU" sz="2200" b="0" dirty="0"/>
              <a:t> объект </a:t>
            </a:r>
            <a:r>
              <a:rPr lang="ru-RU" sz="2200" b="0" dirty="0" err="1"/>
              <a:t>DataAdapter</a:t>
            </a:r>
            <a:r>
              <a:rPr lang="ru-RU" sz="2200" b="0" dirty="0"/>
              <a:t> обращается к объекту </a:t>
            </a:r>
            <a:r>
              <a:rPr lang="ru-RU" sz="2200" b="0" dirty="0" err="1"/>
              <a:t>Connection</a:t>
            </a:r>
            <a:r>
              <a:rPr lang="ru-RU" sz="2200" b="0" dirty="0"/>
              <a:t> и на источник вносятся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3570557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Схема базы данных.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69519"/>
            <a:ext cx="7315200" cy="4499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3498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Инициализация.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38" y="764704"/>
            <a:ext cx="8522542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438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Инициализация.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02332" y="844204"/>
            <a:ext cx="8539336" cy="5075693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Создается рассоединенный набор данных и адаптер.</a:t>
            </a:r>
          </a:p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r>
              <a:rPr lang="en-US" b="0" dirty="0"/>
              <a:t>namespace WindowsFormsApplication1</a:t>
            </a:r>
          </a:p>
          <a:p>
            <a:pPr marL="0" indent="0">
              <a:buNone/>
            </a:pPr>
            <a:r>
              <a:rPr lang="en-US" b="0" dirty="0"/>
              <a:t>{</a:t>
            </a:r>
          </a:p>
          <a:p>
            <a:pPr marL="0" indent="0">
              <a:buNone/>
            </a:pPr>
            <a:r>
              <a:rPr lang="en-US" b="0" dirty="0"/>
              <a:t>    public partial class Form1 : Form</a:t>
            </a:r>
          </a:p>
          <a:p>
            <a:pPr marL="0" indent="0">
              <a:buNone/>
            </a:pPr>
            <a:r>
              <a:rPr lang="en-US" b="0" dirty="0"/>
              <a:t>    {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        </a:t>
            </a:r>
            <a:r>
              <a:rPr lang="en-US" dirty="0" err="1"/>
              <a:t>SqlDataAdapter</a:t>
            </a:r>
            <a:r>
              <a:rPr lang="en-US" dirty="0"/>
              <a:t> </a:t>
            </a:r>
            <a:r>
              <a:rPr lang="en-US" dirty="0" err="1"/>
              <a:t>dataAdapter</a:t>
            </a:r>
            <a:r>
              <a:rPr lang="en-US" dirty="0"/>
              <a:t> = new </a:t>
            </a:r>
            <a:r>
              <a:rPr lang="en-US" dirty="0" err="1"/>
              <a:t>SqlDataAdapter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DataSet</a:t>
            </a:r>
            <a:r>
              <a:rPr lang="en-US" dirty="0"/>
              <a:t> ds = new </a:t>
            </a:r>
            <a:r>
              <a:rPr lang="en-US" dirty="0" err="1"/>
              <a:t>DataSet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        public Form1()</a:t>
            </a:r>
          </a:p>
          <a:p>
            <a:pPr marL="0" indent="0">
              <a:buNone/>
            </a:pPr>
            <a:r>
              <a:rPr lang="en-US" b="0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InitializeComponent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0" dirty="0"/>
              <a:t>            </a:t>
            </a:r>
          </a:p>
          <a:p>
            <a:pPr marL="0" indent="0">
              <a:buNone/>
            </a:pPr>
            <a:r>
              <a:rPr lang="en-US" b="0" dirty="0"/>
              <a:t>            </a:t>
            </a:r>
          </a:p>
          <a:p>
            <a:pPr marL="0" indent="0">
              <a:buNone/>
            </a:pPr>
            <a:r>
              <a:rPr lang="en-US" b="0" dirty="0"/>
              <a:t>        }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        </a:t>
            </a:r>
            <a:endParaRPr lang="ru-RU" b="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403648" y="5338082"/>
            <a:ext cx="727513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Исходный код примера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hlinkClick r:id="rId2"/>
              </a:rPr>
              <a:t>https://github.com/Olgasn/LabADO</a:t>
            </a:r>
            <a:endParaRPr lang="ru-RU" b="1" dirty="0"/>
          </a:p>
          <a:p>
            <a:r>
              <a:rPr lang="ru-RU" b="1" dirty="0"/>
              <a:t>		           </a:t>
            </a:r>
            <a:r>
              <a:rPr lang="en-US" b="1" dirty="0">
                <a:hlinkClick r:id="rId3"/>
              </a:rPr>
              <a:t>https://github.com/Olgasn/LabADO/tree/factory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90092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Выполнение </a:t>
            </a:r>
            <a:r>
              <a:rPr lang="en-US" dirty="0"/>
              <a:t>Command</a:t>
            </a:r>
            <a:endParaRPr lang="ru-RU" dirty="0"/>
          </a:p>
        </p:txBody>
      </p:sp>
      <p:pic>
        <p:nvPicPr>
          <p:cNvPr id="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825383" cy="574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70219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Выполнение </a:t>
            </a:r>
            <a:r>
              <a:rPr lang="en-US" dirty="0"/>
              <a:t>Command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764704"/>
            <a:ext cx="8640960" cy="5472608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0" dirty="0"/>
              <a:t>private void </a:t>
            </a:r>
            <a:r>
              <a:rPr lang="en-US" b="0" dirty="0" err="1"/>
              <a:t>buttonFill_Click</a:t>
            </a:r>
            <a:r>
              <a:rPr lang="en-US" b="0" dirty="0"/>
              <a:t>(object sender, </a:t>
            </a:r>
            <a:r>
              <a:rPr lang="en-US" b="0" dirty="0" err="1"/>
              <a:t>EventArgs</a:t>
            </a:r>
            <a:r>
              <a:rPr lang="en-US" b="0" dirty="0"/>
              <a:t> e)</a:t>
            </a:r>
          </a:p>
          <a:p>
            <a:pPr marL="0" indent="0">
              <a:buNone/>
            </a:pPr>
            <a:r>
              <a:rPr lang="en-US" b="0" dirty="0"/>
              <a:t>         try       </a:t>
            </a:r>
            <a:endParaRPr lang="ru-RU" b="0" dirty="0"/>
          </a:p>
          <a:p>
            <a:pPr marL="0" indent="0">
              <a:buNone/>
            </a:pPr>
            <a:r>
              <a:rPr lang="en-US" b="0" dirty="0"/>
              <a:t>          {</a:t>
            </a:r>
          </a:p>
          <a:p>
            <a:pPr marL="0" indent="0">
              <a:buNone/>
            </a:pPr>
            <a:r>
              <a:rPr lang="en-US" b="0" dirty="0"/>
              <a:t>            </a:t>
            </a:r>
            <a:r>
              <a:rPr lang="en-US" dirty="0"/>
              <a:t>string </a:t>
            </a:r>
            <a:r>
              <a:rPr lang="en-US" dirty="0" err="1"/>
              <a:t>commandText</a:t>
            </a:r>
            <a:r>
              <a:rPr lang="en-US" dirty="0"/>
              <a:t> = </a:t>
            </a:r>
            <a:r>
              <a:rPr lang="en-US" dirty="0" err="1"/>
              <a:t>Convert.ToString</a:t>
            </a:r>
            <a:r>
              <a:rPr lang="en-US" dirty="0"/>
              <a:t>(</a:t>
            </a:r>
            <a:r>
              <a:rPr lang="en-US" dirty="0" err="1"/>
              <a:t>textBoxCommand.Text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string </a:t>
            </a:r>
            <a:r>
              <a:rPr lang="en-US" dirty="0" err="1"/>
              <a:t>ConnectionString</a:t>
            </a:r>
            <a:r>
              <a:rPr lang="en-US" dirty="0"/>
              <a:t> = </a:t>
            </a:r>
            <a:r>
              <a:rPr lang="en-US" dirty="0" err="1"/>
              <a:t>Convert.ToString</a:t>
            </a:r>
            <a:r>
              <a:rPr lang="en-US" dirty="0"/>
              <a:t>(</a:t>
            </a:r>
            <a:r>
              <a:rPr lang="en-US" dirty="0" err="1"/>
              <a:t>textBoxConnectionString.Text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SqlConnection</a:t>
            </a:r>
            <a:r>
              <a:rPr lang="en-US" dirty="0"/>
              <a:t> conn = new </a:t>
            </a:r>
            <a:r>
              <a:rPr lang="en-US" dirty="0" err="1"/>
              <a:t>SqlConnection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0" dirty="0"/>
              <a:t>            </a:t>
            </a:r>
            <a:r>
              <a:rPr lang="en-US" b="0" dirty="0" err="1"/>
              <a:t>labelInfo.Text</a:t>
            </a:r>
            <a:r>
              <a:rPr lang="en-US" b="0" dirty="0"/>
              <a:t> = "</a:t>
            </a:r>
            <a:r>
              <a:rPr lang="ru-RU" b="0" dirty="0"/>
              <a:t>Ход выполнения процесса заполнения базы данных:\</a:t>
            </a:r>
            <a:r>
              <a:rPr lang="en-US" b="0" dirty="0"/>
              <a:t>r\n";</a:t>
            </a:r>
          </a:p>
          <a:p>
            <a:pPr marL="0" indent="0">
              <a:buNone/>
            </a:pPr>
            <a:r>
              <a:rPr lang="en-US" b="0" dirty="0"/>
              <a:t>            </a:t>
            </a:r>
            <a:r>
              <a:rPr lang="en-US" b="0" dirty="0" err="1"/>
              <a:t>labelInfo.Refresh</a:t>
            </a:r>
            <a:r>
              <a:rPr lang="en-US" b="0" dirty="0"/>
              <a:t>();</a:t>
            </a:r>
          </a:p>
          <a:p>
            <a:pPr marL="0" indent="0">
              <a:buNone/>
            </a:pPr>
            <a:r>
              <a:rPr lang="en-US" b="0" dirty="0"/>
              <a:t>            try</a:t>
            </a:r>
          </a:p>
          <a:p>
            <a:pPr marL="0" indent="0">
              <a:buNone/>
            </a:pPr>
            <a:r>
              <a:rPr lang="en-US" b="0" dirty="0"/>
              <a:t>            {……}</a:t>
            </a:r>
          </a:p>
          <a:p>
            <a:pPr marL="0" indent="0">
              <a:buNone/>
            </a:pPr>
            <a:r>
              <a:rPr lang="en-US" b="0" dirty="0"/>
              <a:t>            catch (Exception </a:t>
            </a:r>
            <a:r>
              <a:rPr lang="en-US" b="0" dirty="0" err="1"/>
              <a:t>exeption</a:t>
            </a:r>
            <a:r>
              <a:rPr lang="en-US" b="0" dirty="0"/>
              <a:t>)</a:t>
            </a:r>
          </a:p>
          <a:p>
            <a:pPr marL="0" indent="0">
              <a:buNone/>
            </a:pPr>
            <a:r>
              <a:rPr lang="en-US" b="0" dirty="0"/>
              <a:t>            {</a:t>
            </a:r>
          </a:p>
          <a:p>
            <a:pPr marL="0" indent="0">
              <a:buNone/>
            </a:pPr>
            <a:r>
              <a:rPr lang="en-US" b="0" dirty="0"/>
              <a:t>                </a:t>
            </a:r>
            <a:r>
              <a:rPr lang="en-US" b="0" dirty="0" err="1"/>
              <a:t>labelInfo.Text</a:t>
            </a:r>
            <a:r>
              <a:rPr lang="en-US" b="0" dirty="0"/>
              <a:t> = </a:t>
            </a:r>
            <a:r>
              <a:rPr lang="en-US" b="0" dirty="0" err="1"/>
              <a:t>labelInfo.Text</a:t>
            </a:r>
            <a:r>
              <a:rPr lang="en-US" b="0" dirty="0"/>
              <a:t> + "</a:t>
            </a:r>
            <a:r>
              <a:rPr lang="ru-RU" b="0" dirty="0"/>
              <a:t>Ошибка: "+ </a:t>
            </a:r>
            <a:r>
              <a:rPr lang="en-US" b="0" dirty="0" err="1"/>
              <a:t>exeption.Source</a:t>
            </a:r>
            <a:r>
              <a:rPr lang="en-US" b="0" dirty="0"/>
              <a:t>;</a:t>
            </a:r>
          </a:p>
          <a:p>
            <a:pPr marL="0" indent="0">
              <a:buNone/>
            </a:pPr>
            <a:r>
              <a:rPr lang="en-US" b="0" dirty="0"/>
              <a:t>                </a:t>
            </a:r>
            <a:r>
              <a:rPr lang="en-US" b="0" dirty="0" err="1"/>
              <a:t>labelInfo.Refresh</a:t>
            </a:r>
            <a:r>
              <a:rPr lang="en-US" b="0" dirty="0"/>
              <a:t>();</a:t>
            </a:r>
          </a:p>
          <a:p>
            <a:pPr marL="0" indent="0">
              <a:buNone/>
            </a:pPr>
            <a:r>
              <a:rPr lang="en-US" b="0" dirty="0"/>
              <a:t>            }</a:t>
            </a:r>
            <a:endParaRPr lang="ru-RU" b="0" dirty="0"/>
          </a:p>
          <a:p>
            <a:pPr marL="0" indent="0">
              <a:buNone/>
            </a:pPr>
            <a:r>
              <a:rPr lang="ru-RU" b="0" dirty="0"/>
              <a:t>           </a:t>
            </a:r>
            <a:r>
              <a:rPr lang="en-US" b="0" dirty="0"/>
              <a:t>finally</a:t>
            </a:r>
          </a:p>
          <a:p>
            <a:pPr marL="0" indent="0">
              <a:buNone/>
            </a:pPr>
            <a:r>
              <a:rPr lang="ru-RU" b="0" dirty="0"/>
              <a:t>           </a:t>
            </a:r>
            <a:r>
              <a:rPr lang="en-US" b="0" dirty="0"/>
              <a:t>{</a:t>
            </a:r>
          </a:p>
          <a:p>
            <a:pPr marL="0" indent="0">
              <a:buNone/>
            </a:pPr>
            <a:r>
              <a:rPr lang="en-US" b="0" dirty="0"/>
              <a:t>  </a:t>
            </a:r>
            <a:r>
              <a:rPr lang="ru-RU" b="0" dirty="0"/>
              <a:t>	</a:t>
            </a:r>
            <a:r>
              <a:rPr lang="en-US" dirty="0" err="1"/>
              <a:t>conn.Close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0" dirty="0"/>
              <a:t>	}</a:t>
            </a:r>
          </a:p>
          <a:p>
            <a:pPr marL="0" indent="0">
              <a:buNone/>
            </a:pPr>
            <a:r>
              <a:rPr lang="en-US" b="0" dirty="0"/>
              <a:t>}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355817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Выполнение </a:t>
            </a:r>
            <a:r>
              <a:rPr lang="en-US" dirty="0"/>
              <a:t>Command.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59697" y="836712"/>
            <a:ext cx="8748464" cy="5400600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dirty="0"/>
              <a:t>try</a:t>
            </a:r>
          </a:p>
          <a:p>
            <a:pPr marL="0" indent="0">
              <a:buNone/>
            </a:pPr>
            <a:r>
              <a:rPr lang="en-US" sz="1800" b="0" dirty="0"/>
              <a:t>            {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dirty="0" err="1"/>
              <a:t>conn.Open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labelInfo.Text</a:t>
            </a:r>
            <a:r>
              <a:rPr lang="en-US" sz="1800" b="0" dirty="0"/>
              <a:t> = </a:t>
            </a:r>
            <a:r>
              <a:rPr lang="en-US" sz="1800" b="0" dirty="0" err="1"/>
              <a:t>labelInfo.Text</a:t>
            </a:r>
            <a:r>
              <a:rPr lang="en-US" sz="1800" b="0" dirty="0"/>
              <a:t> + "1. c</a:t>
            </a:r>
            <a:r>
              <a:rPr lang="ru-RU" sz="1800" b="0" dirty="0" err="1"/>
              <a:t>оединение</a:t>
            </a:r>
            <a:r>
              <a:rPr lang="ru-RU" sz="1800" b="0" dirty="0"/>
              <a:t> с базой данных установлено\</a:t>
            </a:r>
            <a:r>
              <a:rPr lang="en-US" sz="1800" b="0" dirty="0"/>
              <a:t>r\n";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labelInfo.Refresh</a:t>
            </a:r>
            <a:r>
              <a:rPr lang="en-US" sz="1800" b="0" dirty="0"/>
              <a:t>();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dirty="0" err="1"/>
              <a:t>SqlCommand</a:t>
            </a:r>
            <a:r>
              <a:rPr lang="en-US" sz="1800" dirty="0"/>
              <a:t> </a:t>
            </a:r>
            <a:r>
              <a:rPr lang="en-US" sz="1800" dirty="0" err="1"/>
              <a:t>MyCommand</a:t>
            </a:r>
            <a:r>
              <a:rPr lang="en-US" sz="1800" dirty="0"/>
              <a:t> = new </a:t>
            </a:r>
            <a:r>
              <a:rPr lang="en-US" sz="1800" dirty="0" err="1"/>
              <a:t>SqlCommand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                </a:t>
            </a:r>
            <a:r>
              <a:rPr lang="en-US" sz="1800" dirty="0" err="1"/>
              <a:t>MyCommand.Connection</a:t>
            </a:r>
            <a:r>
              <a:rPr lang="en-US" sz="1800" dirty="0"/>
              <a:t> = conn;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MyCommand.CommandText</a:t>
            </a:r>
            <a:r>
              <a:rPr lang="en-US" sz="1800" dirty="0"/>
              <a:t> = </a:t>
            </a:r>
            <a:r>
              <a:rPr lang="en-US" sz="1800" dirty="0" err="1"/>
              <a:t>commandText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labelInfo.Text</a:t>
            </a:r>
            <a:r>
              <a:rPr lang="en-US" sz="1800" b="0" dirty="0"/>
              <a:t> = </a:t>
            </a:r>
            <a:r>
              <a:rPr lang="en-US" sz="1800" b="0" dirty="0" err="1"/>
              <a:t>labelInfo.Text</a:t>
            </a:r>
            <a:r>
              <a:rPr lang="en-US" sz="1800" b="0" dirty="0"/>
              <a:t> + "2. </a:t>
            </a:r>
            <a:r>
              <a:rPr lang="ru-RU" sz="1800" b="0" dirty="0"/>
              <a:t>заполнение таблиц базы данных начато, подождите немного...\</a:t>
            </a:r>
            <a:r>
              <a:rPr lang="en-US" sz="1800" b="0" dirty="0"/>
              <a:t>r\n";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labelInfo.Refresh</a:t>
            </a:r>
            <a:r>
              <a:rPr lang="en-US" sz="1800" b="0" dirty="0"/>
              <a:t>();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dirty="0" err="1"/>
              <a:t>MyCommand.ExecuteNonQuery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labelInfo.Text</a:t>
            </a:r>
            <a:r>
              <a:rPr lang="en-US" sz="1800" b="0" dirty="0"/>
              <a:t> = </a:t>
            </a:r>
            <a:r>
              <a:rPr lang="en-US" sz="1800" b="0" dirty="0" err="1"/>
              <a:t>labelInfo.Text</a:t>
            </a:r>
            <a:r>
              <a:rPr lang="en-US" sz="1800" b="0" dirty="0"/>
              <a:t> + "3. </a:t>
            </a:r>
            <a:r>
              <a:rPr lang="ru-RU" sz="1800" b="0" dirty="0"/>
              <a:t>заполнение таблиц базы данных окончено!!!\</a:t>
            </a:r>
            <a:r>
              <a:rPr lang="en-US" sz="1800" b="0" dirty="0"/>
              <a:t>r\n";</a:t>
            </a:r>
          </a:p>
          <a:p>
            <a:pPr marL="0" indent="0">
              <a:buNone/>
            </a:pPr>
            <a:r>
              <a:rPr lang="en-US" sz="1800" b="0" dirty="0"/>
              <a:t>                </a:t>
            </a:r>
            <a:r>
              <a:rPr lang="en-US" sz="1800" b="0" dirty="0" err="1"/>
              <a:t>labelInfo.Refresh</a:t>
            </a:r>
            <a:r>
              <a:rPr lang="en-US" sz="1800" b="0" dirty="0"/>
              <a:t>();</a:t>
            </a:r>
          </a:p>
          <a:p>
            <a:pPr marL="0" indent="0">
              <a:buNone/>
            </a:pPr>
            <a:r>
              <a:rPr lang="en-US" sz="1800" b="0" dirty="0"/>
              <a:t>        }</a:t>
            </a:r>
          </a:p>
          <a:p>
            <a:pPr marL="0" indent="0">
              <a:buNone/>
            </a:pP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4093085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</a:t>
            </a:r>
            <a:r>
              <a:rPr lang="en-US" dirty="0"/>
              <a:t> </a:t>
            </a:r>
            <a:r>
              <a:rPr lang="ru-RU" dirty="0"/>
              <a:t>Наполнение </a:t>
            </a:r>
            <a:r>
              <a:rPr lang="en-US" dirty="0" err="1"/>
              <a:t>DataSet</a:t>
            </a:r>
            <a:r>
              <a:rPr lang="en-US" dirty="0"/>
              <a:t> </a:t>
            </a:r>
            <a:r>
              <a:rPr lang="ru-RU" dirty="0"/>
              <a:t>и визуализация</a:t>
            </a:r>
          </a:p>
        </p:txBody>
      </p:sp>
      <p:pic>
        <p:nvPicPr>
          <p:cNvPr id="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38" y="764703"/>
            <a:ext cx="8492518" cy="552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0844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Наполнение </a:t>
            </a:r>
            <a:r>
              <a:rPr lang="ru-RU" dirty="0" err="1"/>
              <a:t>DataSet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760640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conn.Open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ds.Clear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ru-RU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ru-RU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"1. соединение с базой данных установлено\r\n"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labelInfo.Refresh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MyCommand.Connection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conn;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"2. 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отбор данных в локальное хранилище начат\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r\n"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labelInfo.Refresh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MyCommand.CommandText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"SELECT * FROM Fuels"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dataAdapter.SelectCommand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ds.Tables.Contains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"Fuels"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)))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"Fuels"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dataAdapter.Fill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(ds,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"Fuels"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MyCommand.CommandText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"SELECT * FROM Tanks"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dataAdapter.SelectCommand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ds.Tables.Contains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"Tanks"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)))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"Tanks"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dataAdapter.Fill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(ds,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"Tanks"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MyCommand.CommandText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"SELECT * FROM Operations"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dataAdapter.SelectCommand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MyCommand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ds.Tables.Contains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"Operations"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)))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"Operations"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dataAdapter.Fill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(ds,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"Operations"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"3. 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отбор данных в локальное хранилище закончен\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r\n"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labelInfo.Refresh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  <a:endParaRPr lang="ru-RU" sz="1400" b="0" dirty="0"/>
          </a:p>
        </p:txBody>
      </p:sp>
    </p:spTree>
    <p:extLst>
      <p:ext uri="{BB962C8B-B14F-4D97-AF65-F5344CB8AC3E}">
        <p14:creationId xmlns:p14="http://schemas.microsoft.com/office/powerpoint/2010/main" val="3508518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</a:t>
            </a:r>
            <a:r>
              <a:rPr lang="en-US" dirty="0"/>
              <a:t> </a:t>
            </a:r>
            <a:r>
              <a:rPr lang="ru-RU" dirty="0"/>
              <a:t>Визуализация с использованием</a:t>
            </a:r>
            <a:r>
              <a:rPr lang="en-US" dirty="0"/>
              <a:t> </a:t>
            </a:r>
            <a:r>
              <a:rPr lang="ru-RU" dirty="0"/>
              <a:t>табличного элемента </a:t>
            </a:r>
            <a:r>
              <a:rPr lang="en-US" dirty="0" err="1"/>
              <a:t>DataGrid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052736"/>
            <a:ext cx="8820472" cy="3960440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/>
              <a:t>try</a:t>
            </a:r>
          </a:p>
          <a:p>
            <a:pPr marL="0" indent="0">
              <a:buNone/>
            </a:pPr>
            <a:r>
              <a:rPr lang="en-US" b="0" dirty="0"/>
              <a:t>            {</a:t>
            </a:r>
          </a:p>
          <a:p>
            <a:pPr marL="0" indent="0">
              <a:buNone/>
            </a:pPr>
            <a:r>
              <a:rPr lang="en-US" b="0" dirty="0"/>
              <a:t>                </a:t>
            </a:r>
            <a:r>
              <a:rPr lang="ru-RU" b="0" dirty="0"/>
              <a:t>……</a:t>
            </a:r>
            <a:endParaRPr lang="en-US" b="0" dirty="0"/>
          </a:p>
          <a:p>
            <a:pPr marL="0" indent="0">
              <a:buNone/>
            </a:pPr>
            <a:r>
              <a:rPr lang="en-US" dirty="0"/>
              <a:t>                dataGridView1.DataSource = </a:t>
            </a:r>
            <a:r>
              <a:rPr lang="en-US" dirty="0" err="1"/>
              <a:t>ds.Tables</a:t>
            </a:r>
            <a:r>
              <a:rPr lang="en-US" dirty="0"/>
              <a:t>["Fuels"].</a:t>
            </a:r>
            <a:r>
              <a:rPr lang="en-US" dirty="0" err="1"/>
              <a:t>DefaultView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    dataGridView2.DataSource = </a:t>
            </a:r>
            <a:r>
              <a:rPr lang="en-US" dirty="0" err="1"/>
              <a:t>ds.Tables</a:t>
            </a:r>
            <a:r>
              <a:rPr lang="en-US" dirty="0"/>
              <a:t>["Tanks"].</a:t>
            </a:r>
            <a:r>
              <a:rPr lang="en-US" dirty="0" err="1"/>
              <a:t>DefaultView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    dataGridView3.DataSource = </a:t>
            </a:r>
            <a:r>
              <a:rPr lang="en-US" dirty="0" err="1"/>
              <a:t>ds.Tables</a:t>
            </a:r>
            <a:r>
              <a:rPr lang="en-US" dirty="0"/>
              <a:t>["Operations"].</a:t>
            </a:r>
            <a:r>
              <a:rPr lang="en-US" dirty="0" err="1"/>
              <a:t>DefaultView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                </a:t>
            </a:r>
            <a:r>
              <a:rPr lang="en-US" b="0" dirty="0" err="1"/>
              <a:t>labelInfo.Text</a:t>
            </a:r>
            <a:r>
              <a:rPr lang="en-US" b="0" dirty="0"/>
              <a:t> = </a:t>
            </a:r>
            <a:r>
              <a:rPr lang="en-US" b="0" dirty="0" err="1"/>
              <a:t>labelInfo.Text</a:t>
            </a:r>
            <a:r>
              <a:rPr lang="en-US" b="0" dirty="0"/>
              <a:t> + "4. </a:t>
            </a:r>
            <a:r>
              <a:rPr lang="ru-RU" b="0" dirty="0"/>
              <a:t>отображение данных из локального хранилища в табличных элементах управления закончено!!!\</a:t>
            </a:r>
            <a:r>
              <a:rPr lang="en-US" b="0" dirty="0"/>
              <a:t>r\n";</a:t>
            </a:r>
          </a:p>
          <a:p>
            <a:pPr marL="0" indent="0">
              <a:buNone/>
            </a:pPr>
            <a:r>
              <a:rPr lang="en-US" b="0" dirty="0"/>
              <a:t>                </a:t>
            </a:r>
            <a:r>
              <a:rPr lang="en-US" b="0" dirty="0" err="1"/>
              <a:t>labelInfo.Refresh</a:t>
            </a:r>
            <a:r>
              <a:rPr lang="en-US" b="0" dirty="0"/>
              <a:t>();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}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endParaRPr lang="ru-RU" b="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55576" y="5338082"/>
            <a:ext cx="727513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Исходный код примера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hlinkClick r:id="rId2"/>
              </a:rPr>
              <a:t>https://github.com/Olgasn/LabADO</a:t>
            </a:r>
            <a:endParaRPr lang="ru-RU" b="1" dirty="0"/>
          </a:p>
          <a:p>
            <a:r>
              <a:rPr lang="ru-RU" b="1" dirty="0"/>
              <a:t>		           </a:t>
            </a:r>
            <a:r>
              <a:rPr lang="en-US" b="1" dirty="0">
                <a:hlinkClick r:id="rId3"/>
              </a:rPr>
              <a:t>https://github.com/Olgasn/LabADO/tree/factory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846821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</a:t>
            </a:r>
            <a:r>
              <a:rPr lang="en-US" dirty="0"/>
              <a:t> </a:t>
            </a:r>
            <a:r>
              <a:rPr lang="ru-RU" dirty="0"/>
              <a:t>Изменение и сохранение.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70929"/>
            <a:ext cx="7693748" cy="5438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5157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Сохранение изменённых данных.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764704"/>
            <a:ext cx="8712968" cy="5255096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try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conn.Open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DataTable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table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ds.Tables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"Fuels"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command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"UPDATE Fuels SET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FuelType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= 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FuelType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FuelDensity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FuelDensity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WHERE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= 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conn);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Добавление параметров для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UpdateCommand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command.Parameters.Add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SqlDbType.Int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5,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command.Parameters.Add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FuelType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SqlDbType.NVarChar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50,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FuelType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command.Parameters.Add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FuelDensity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SqlDbType.Real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8,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FuelDensity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dataAdapter.UpdateCommand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command;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dataAdapter.Update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table.Select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null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,DataViewRowState.ModifiedCurrent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));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  <a:endParaRPr lang="en-US" b="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37044" y="5661248"/>
            <a:ext cx="727513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Исходный код примера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hlinkClick r:id="rId2"/>
              </a:rPr>
              <a:t>https://github.com/Olgasn/LabADO</a:t>
            </a:r>
            <a:endParaRPr lang="ru-RU" b="1" dirty="0"/>
          </a:p>
          <a:p>
            <a:r>
              <a:rPr lang="ru-RU" b="1" dirty="0"/>
              <a:t>		           </a:t>
            </a:r>
            <a:r>
              <a:rPr lang="en-US" b="1" dirty="0">
                <a:hlinkClick r:id="rId3"/>
              </a:rPr>
              <a:t>https://github.com/Olgasn/LabADO/tree/factory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465488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62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29805" y="74370"/>
            <a:ext cx="8229600" cy="715962"/>
          </a:xfrm>
        </p:spPr>
        <p:txBody>
          <a:bodyPr/>
          <a:lstStyle/>
          <a:p>
            <a:r>
              <a:rPr lang="ru-RU" dirty="0"/>
              <a:t>Пример. Удаление данных с использованием </a:t>
            </a:r>
            <a:r>
              <a:rPr lang="en-US" dirty="0" err="1"/>
              <a:t>DataAdapter</a:t>
            </a:r>
            <a:r>
              <a:rPr lang="ru-RU" dirty="0"/>
              <a:t>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560745"/>
            <a:ext cx="8928992" cy="5542875"/>
          </a:xfrm>
          <a:solidFill>
            <a:schemeClr val="bg2"/>
          </a:solidFill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//значение ключевого поля строки для удаления</a:t>
            </a: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Arial Black" panose="020B0A04020102020204" pitchFamily="34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id = (</a:t>
            </a:r>
            <a:r>
              <a:rPr lang="en-US" sz="1200" dirty="0" err="1">
                <a:solidFill>
                  <a:srgbClr val="0000FF"/>
                </a:solidFill>
                <a:latin typeface="Arial Black" panose="020B0A04020102020204" pitchFamily="34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)dataGridView1.CurrentRow.Cells[0].Value;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try</a:t>
            </a:r>
            <a:endParaRPr lang="en-US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(conn)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{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Определение строки запроса</a:t>
            </a: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queryString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</a:t>
            </a:r>
            <a:r>
              <a:rPr lang="en-US" sz="1200" dirty="0">
                <a:solidFill>
                  <a:srgbClr val="A31515"/>
                </a:solidFill>
                <a:latin typeface="Arial Black" panose="020B0A04020102020204" pitchFamily="34" charset="0"/>
              </a:rPr>
              <a:t>"SELECT * FROM Fuels"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Создать команду на выборку</a:t>
            </a: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SqlCommand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command =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SqlCommand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command.CommandText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queryString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command.Connection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conn;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Создать </a:t>
            </a:r>
            <a:r>
              <a:rPr lang="en-US" sz="1200" dirty="0" err="1">
                <a:solidFill>
                  <a:srgbClr val="008000"/>
                </a:solidFill>
                <a:latin typeface="Arial Black" panose="020B0A04020102020204" pitchFamily="34" charset="0"/>
              </a:rPr>
              <a:t>DbDataAdapter</a:t>
            </a:r>
            <a:r>
              <a:rPr lang="en-US" sz="1200" dirty="0">
                <a:solidFill>
                  <a:srgbClr val="008000"/>
                </a:solidFill>
                <a:latin typeface="Arial Black" panose="020B0A04020102020204" pitchFamily="34" charset="0"/>
              </a:rPr>
              <a:t>.</a:t>
            </a:r>
            <a:endParaRPr lang="en-US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SqlDataAdapter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adapter =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SqlDataAdapter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adapter.SelectCommand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command;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Создать </a:t>
            </a:r>
            <a:r>
              <a:rPr lang="en-US" sz="1200" dirty="0" err="1">
                <a:solidFill>
                  <a:srgbClr val="008000"/>
                </a:solidFill>
                <a:latin typeface="Arial Black" panose="020B0A04020102020204" pitchFamily="34" charset="0"/>
              </a:rPr>
              <a:t>DbCommandBuilder</a:t>
            </a:r>
            <a:r>
              <a:rPr lang="en-US" sz="1200" dirty="0">
                <a:solidFill>
                  <a:srgbClr val="008000"/>
                </a:solidFill>
                <a:latin typeface="Arial Black" panose="020B0A04020102020204" pitchFamily="34" charset="0"/>
              </a:rPr>
              <a:t>.</a:t>
            </a:r>
            <a:endParaRPr lang="en-US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SqlCommandBuilder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builder =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SqlCommandBuilder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builder.DataAdapter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adapter;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Получить команду на удаление</a:t>
            </a: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adapter.DeleteCommand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builder.GetDeleteCommand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DataTable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table =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ds.Tables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[</a:t>
            </a:r>
            <a:r>
              <a:rPr lang="en-US" sz="1200" dirty="0">
                <a:solidFill>
                  <a:srgbClr val="A31515"/>
                </a:solidFill>
                <a:latin typeface="Arial Black" panose="020B0A04020102020204" pitchFamily="34" charset="0"/>
              </a:rPr>
              <a:t>"Fuels"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];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ru-RU" sz="1200" dirty="0">
                <a:solidFill>
                  <a:srgbClr val="008000"/>
                </a:solidFill>
                <a:latin typeface="Arial Black" panose="020B0A04020102020204" pitchFamily="34" charset="0"/>
              </a:rPr>
              <a:t>// Удаление строки</a:t>
            </a: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DataRow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deleteRow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table.Select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Arial Black" panose="020B0A04020102020204" pitchFamily="34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Arial Black" panose="020B0A04020102020204" pitchFamily="34" charset="0"/>
              </a:rPr>
              <a:t>FuelID</a:t>
            </a:r>
            <a:r>
              <a:rPr lang="en-US" sz="1200" dirty="0">
                <a:solidFill>
                  <a:srgbClr val="A31515"/>
                </a:solidFill>
                <a:latin typeface="Arial Black" panose="020B0A04020102020204" pitchFamily="34" charset="0"/>
              </a:rPr>
              <a:t> = "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+ id);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FF"/>
                </a:solidFill>
                <a:latin typeface="Arial Black" panose="020B0A04020102020204" pitchFamily="34" charset="0"/>
              </a:rPr>
              <a:t>foreach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(</a:t>
            </a:r>
            <a:r>
              <a:rPr lang="en-US" sz="1200" dirty="0" err="1">
                <a:solidFill>
                  <a:srgbClr val="2B91AF"/>
                </a:solidFill>
                <a:latin typeface="Arial Black" panose="020B0A04020102020204" pitchFamily="34" charset="0"/>
              </a:rPr>
              <a:t>DataRow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row </a:t>
            </a:r>
            <a:r>
              <a:rPr lang="en-US" sz="1200" dirty="0">
                <a:solidFill>
                  <a:srgbClr val="0000FF"/>
                </a:solidFill>
                <a:latin typeface="Arial Black" panose="020B0A04020102020204" pitchFamily="34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deleteRow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)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row.Delete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adapter.Update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(table);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</a:t>
            </a:r>
            <a:r>
              <a:rPr lang="en-US" sz="1200" dirty="0" err="1">
                <a:solidFill>
                  <a:srgbClr val="000000"/>
                </a:solidFill>
                <a:latin typeface="Arial Black" panose="020B0A04020102020204" pitchFamily="34" charset="0"/>
              </a:rPr>
              <a:t>table.AcceptChanges</a:t>
            </a:r>
            <a:r>
              <a:rPr lang="en-US" sz="1200" dirty="0">
                <a:solidFill>
                  <a:srgbClr val="000000"/>
                </a:solidFill>
                <a:latin typeface="Arial Black" panose="020B0A04020102020204" pitchFamily="34" charset="0"/>
              </a:rPr>
              <a:t>();</a:t>
            </a:r>
          </a:p>
          <a:p>
            <a:pPr marL="0" indent="0">
              <a:buNone/>
            </a:pPr>
            <a:endParaRPr lang="ru-RU" sz="12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00000"/>
                </a:solidFill>
                <a:latin typeface="Arial Black" panose="020B0A04020102020204" pitchFamily="34" charset="0"/>
              </a:rPr>
              <a:t>                }</a:t>
            </a:r>
            <a:endParaRPr lang="en-US" sz="1200" b="0" dirty="0"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61373" y="6095588"/>
            <a:ext cx="727513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Исходный код примера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hlinkClick r:id="rId2"/>
              </a:rPr>
              <a:t>https://github.com/Olgasn/LabADO</a:t>
            </a:r>
            <a:endParaRPr lang="ru-RU" b="1" dirty="0"/>
          </a:p>
          <a:p>
            <a:r>
              <a:rPr lang="ru-RU" b="1" dirty="0"/>
              <a:t>		           </a:t>
            </a:r>
            <a:r>
              <a:rPr lang="en-US" b="1" dirty="0">
                <a:hlinkClick r:id="rId3"/>
              </a:rPr>
              <a:t>https://github.com/Olgasn/LabADO/tree/factory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936491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73968"/>
          </a:xfrm>
        </p:spPr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ADO.NET</a:t>
            </a:r>
            <a:r>
              <a:rPr lang="ru-RU" dirty="0"/>
              <a:t>. Паттерн «Абстрактная фабрика».</a:t>
            </a:r>
            <a:br>
              <a:rPr lang="ru-RU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648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В основе модели программирования для написания не зависящего от поставщиков кода лежит использование «</a:t>
            </a:r>
            <a:r>
              <a:rPr lang="ru-RU" sz="1600" b="1" dirty="0"/>
              <a:t>фабричного</a:t>
            </a:r>
            <a:r>
              <a:rPr lang="ru-RU" sz="1600" dirty="0"/>
              <a:t>» конструктивного шаблона, 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03" y="1412776"/>
            <a:ext cx="7577021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3426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73968"/>
          </a:xfrm>
        </p:spPr>
        <p:txBody>
          <a:bodyPr/>
          <a:lstStyle/>
          <a:p>
            <a:r>
              <a:rPr lang="ru-RU" dirty="0"/>
              <a:t>Паттерн «Абстрактная фабрика».</a:t>
            </a:r>
            <a:br>
              <a:rPr lang="ru-RU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8B87FE-39EA-4BE5-9C53-9F3AF6E0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036496" cy="6192688"/>
          </a:xfrm>
          <a:solidFill>
            <a:schemeClr val="bg1">
              <a:lumMod val="95000"/>
            </a:schemeClr>
          </a:solidFill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AbstractFactory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ConcreteFactory1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AbstractFactory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ProductA1();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ProductB1();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ConcreteFactory2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AbstractFactory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ProductA2();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ProductB2();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AbstractProductA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AbstractProductB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ProductA1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AbstractProductA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ProductB1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AbstractProductB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ProductA2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AbstractProductA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ProductB2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AbstractProductB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Client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Client(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AbstractFactory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factory)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factory.CreateProductB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abstractProductA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factory.CreateProductA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}</a:t>
            </a:r>
          </a:p>
          <a:p>
            <a:pPr marL="0" indent="0">
              <a:buNone/>
            </a:pP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24091615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836712"/>
            <a:ext cx="3312368" cy="5368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В «</a:t>
            </a:r>
            <a:r>
              <a:rPr lang="ru-RU" sz="2000" b="1" dirty="0"/>
              <a:t>фабричном» конструктивном шаблоне  </a:t>
            </a:r>
            <a:r>
              <a:rPr lang="ru-RU" sz="2000" dirty="0"/>
              <a:t>используется один API-интерфейс для доступа к базам данных нескольких поставщиков. Этому шаблону присваивается соответствующее имя, поскольку он задает использование специализированного объекта, только чтобы создавать другие объекты, что очень напоминает настоящую фабрику.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780" y="476672"/>
            <a:ext cx="5690724" cy="638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0" y="885"/>
            <a:ext cx="9036496" cy="873968"/>
          </a:xfrm>
        </p:spPr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ADO.NET</a:t>
            </a:r>
            <a:r>
              <a:rPr lang="ru-RU" dirty="0"/>
              <a:t>. Реализация паттерна абстрактная фабрика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53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Создание фабрики (</a:t>
            </a:r>
            <a:r>
              <a:rPr lang="en-US" dirty="0"/>
              <a:t>factory)</a:t>
            </a:r>
            <a:r>
              <a:rPr lang="ru-RU" dirty="0"/>
              <a:t>. Класс </a:t>
            </a:r>
            <a:r>
              <a:rPr lang="ru-RU" dirty="0" err="1"/>
              <a:t>DbProviderFactories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866" y="1030362"/>
            <a:ext cx="9036496" cy="54006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Фабрика классов сама по себе специфична для поставщика.  Например, поставщик SQL </a:t>
            </a:r>
            <a:r>
              <a:rPr lang="ru-RU" sz="1800" dirty="0" err="1"/>
              <a:t>Server</a:t>
            </a:r>
            <a:r>
              <a:rPr lang="ru-RU" sz="1800" dirty="0"/>
              <a:t> включает класс </a:t>
            </a:r>
            <a:r>
              <a:rPr lang="ru-RU" sz="1800" dirty="0" err="1"/>
              <a:t>System.Data.SqlClient.SqlClientFactory</a:t>
            </a:r>
            <a:r>
              <a:rPr lang="ru-RU" sz="1800" dirty="0"/>
              <a:t>. 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Поставщик </a:t>
            </a:r>
            <a:r>
              <a:rPr lang="ru-RU" sz="1800" dirty="0" err="1"/>
              <a:t>Oracle</a:t>
            </a:r>
            <a:r>
              <a:rPr lang="ru-RU" sz="1800" dirty="0"/>
              <a:t> использует </a:t>
            </a:r>
            <a:r>
              <a:rPr lang="ru-RU" sz="1800" dirty="0" err="1"/>
              <a:t>System.Data.OracleClient.OracleClientFactory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Однако существует полностью стандартизованный класс, который предназначен для </a:t>
            </a:r>
            <a:r>
              <a:rPr lang="ru-RU" sz="1800" b="1" dirty="0"/>
              <a:t>динамического нахождения и создания необходимой фабрики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r>
              <a:rPr lang="ru-RU" sz="1800" dirty="0"/>
              <a:t>Класс </a:t>
            </a:r>
            <a:r>
              <a:rPr lang="ru-RU" sz="1800" b="1" dirty="0" err="1"/>
              <a:t>System.Data.Common.DbProviderFactories</a:t>
            </a:r>
            <a:r>
              <a:rPr lang="ru-RU" sz="1800" dirty="0"/>
              <a:t> - предоставляет статический метод </a:t>
            </a:r>
            <a:r>
              <a:rPr lang="ru-RU" sz="1800" b="1" dirty="0" err="1"/>
              <a:t>GetFactory</a:t>
            </a:r>
            <a:r>
              <a:rPr lang="ru-RU" sz="1800" dirty="0"/>
              <a:t>(), возвращающий фабрику на основе имени поставщика.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Например, вот как выглядит код, использующий </a:t>
            </a:r>
            <a:r>
              <a:rPr lang="ru-RU" sz="1800" b="1" dirty="0" err="1"/>
              <a:t>DbProviderFactories</a:t>
            </a:r>
            <a:r>
              <a:rPr lang="ru-RU" sz="1800" dirty="0"/>
              <a:t> для получения </a:t>
            </a:r>
            <a:r>
              <a:rPr lang="ru-RU" sz="1800" dirty="0" err="1"/>
              <a:t>SqlClientFactory</a:t>
            </a:r>
            <a:r>
              <a:rPr lang="ru-RU" sz="1800" dirty="0"/>
              <a:t>: </a:t>
            </a:r>
          </a:p>
          <a:p>
            <a:pPr marL="0" indent="0">
              <a:buNone/>
            </a:pPr>
            <a:r>
              <a:rPr lang="ru-RU" sz="2000" b="1" dirty="0">
                <a:solidFill>
                  <a:srgbClr val="008000"/>
                </a:solidFill>
                <a:latin typeface="Consolas"/>
              </a:rPr>
              <a:t>// классы </a:t>
            </a:r>
            <a:r>
              <a:rPr lang="en-US" sz="2000" b="1" dirty="0" err="1">
                <a:solidFill>
                  <a:srgbClr val="008000"/>
                </a:solidFill>
                <a:latin typeface="Consolas"/>
              </a:rPr>
              <a:t>DbProviderFactories</a:t>
            </a:r>
            <a:r>
              <a:rPr lang="en-US" sz="2000" b="1" dirty="0">
                <a:solidFill>
                  <a:srgbClr val="008000"/>
                </a:solidFill>
                <a:latin typeface="Consolas"/>
              </a:rPr>
              <a:t> </a:t>
            </a:r>
            <a:r>
              <a:rPr lang="ru-RU" sz="2000" b="1" dirty="0">
                <a:solidFill>
                  <a:srgbClr val="008000"/>
                </a:solidFill>
                <a:latin typeface="Consolas"/>
              </a:rPr>
              <a:t>и </a:t>
            </a:r>
            <a:r>
              <a:rPr lang="en-US" sz="2000" b="1" dirty="0" err="1">
                <a:solidFill>
                  <a:srgbClr val="008000"/>
                </a:solidFill>
                <a:latin typeface="Consolas"/>
              </a:rPr>
              <a:t>DbProviderFactory</a:t>
            </a:r>
            <a:r>
              <a:rPr lang="en-US" sz="2000" b="1" dirty="0">
                <a:solidFill>
                  <a:srgbClr val="008000"/>
                </a:solidFill>
                <a:latin typeface="Consolas"/>
              </a:rPr>
              <a:t> </a:t>
            </a:r>
            <a:endParaRPr lang="en-US" sz="2000" b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008000"/>
                </a:solidFill>
                <a:latin typeface="Consolas"/>
              </a:rPr>
              <a:t>// находятся в пространстве имён </a:t>
            </a:r>
            <a:r>
              <a:rPr lang="ru-RU" sz="2000" b="1" dirty="0" err="1">
                <a:solidFill>
                  <a:srgbClr val="008000"/>
                </a:solidFill>
                <a:latin typeface="Consolas"/>
              </a:rPr>
              <a:t>System.Data.Common</a:t>
            </a:r>
            <a:r>
              <a:rPr lang="ru-RU" sz="2000" b="1" dirty="0">
                <a:solidFill>
                  <a:srgbClr val="008000"/>
                </a:solidFill>
                <a:latin typeface="Consolas"/>
              </a:rPr>
              <a:t> </a:t>
            </a:r>
            <a:endParaRPr lang="ru-RU" sz="2000" b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FF"/>
                </a:solidFill>
                <a:latin typeface="Consolas"/>
              </a:rPr>
              <a:t>var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f=</a:t>
            </a:r>
            <a:r>
              <a:rPr lang="en-US" sz="2000" b="1" dirty="0" err="1">
                <a:solidFill>
                  <a:srgbClr val="2B91AF"/>
                </a:solidFill>
                <a:latin typeface="Consolas"/>
              </a:rPr>
              <a:t>DbProviderFactories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.GetFactory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2000" b="1" dirty="0" err="1">
                <a:solidFill>
                  <a:srgbClr val="A31515"/>
                </a:solidFill>
                <a:latin typeface="Consolas"/>
              </a:rPr>
              <a:t>System.Data.SqlClient</a:t>
            </a:r>
            <a:r>
              <a:rPr lang="en-US" sz="2000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2B91AF"/>
                </a:solidFill>
                <a:latin typeface="Consolas"/>
              </a:rPr>
              <a:t>DbCommand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cmd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f.CreateCommand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();</a:t>
            </a:r>
            <a:endParaRPr lang="ru-RU" sz="1800" b="1" dirty="0"/>
          </a:p>
        </p:txBody>
      </p:sp>
    </p:spTree>
    <p:extLst>
      <p:ext uri="{BB962C8B-B14F-4D97-AF65-F5344CB8AC3E}">
        <p14:creationId xmlns:p14="http://schemas.microsoft.com/office/powerpoint/2010/main" val="6659086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Создание фабрики (</a:t>
            </a:r>
            <a:r>
              <a:rPr lang="en-US" dirty="0"/>
              <a:t>factory)</a:t>
            </a:r>
            <a:r>
              <a:rPr lang="ru-RU" dirty="0"/>
              <a:t>. Класс </a:t>
            </a:r>
            <a:r>
              <a:rPr lang="ru-RU" dirty="0" err="1"/>
              <a:t>DbProviderFactories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67</a:t>
            </a:fld>
            <a:endParaRPr lang="en-US"/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54855"/>
              </p:ext>
            </p:extLst>
          </p:nvPr>
        </p:nvGraphicFramePr>
        <p:xfrm>
          <a:off x="179512" y="2852936"/>
          <a:ext cx="8758808" cy="34563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Имя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1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GetFactory</a:t>
                      </a:r>
                      <a:r>
                        <a:rPr lang="ru-RU" sz="2000" u="sng" dirty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</a:t>
                      </a: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DataRow</a:t>
                      </a:r>
                      <a:r>
                        <a:rPr lang="ru-RU" sz="2000" u="sng" dirty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)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Возвращает экземпляр класса </a:t>
                      </a: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DbProviderFactory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1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u="sng">
                          <a:solidFill>
                            <a:schemeClr val="tx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GetFactory(DbConnection)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Возвращает экземпляр класса </a:t>
                      </a:r>
                      <a:r>
                        <a:rPr lang="ru-RU" sz="2000" u="sng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DbProviderFactory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u="sng">
                          <a:solidFill>
                            <a:schemeClr val="tx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GetFactory(String)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Возвращает экземпляр класса </a:t>
                      </a:r>
                      <a:r>
                        <a:rPr lang="ru-RU" sz="2000" u="sng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DbProviderFactory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6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GetFactoryClasses</a:t>
                      </a:r>
                      <a:r>
                        <a:rPr lang="ru-RU" sz="2000" u="sng" dirty="0">
                          <a:solidFill>
                            <a:schemeClr val="tx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Возвращает объект </a:t>
                      </a: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DataTable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, содержащий сведения обо всех установленных поставщиках, реализующих объект </a:t>
                      </a:r>
                      <a:r>
                        <a:rPr lang="ru-RU" sz="2000" u="sng" dirty="0" err="1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DbProviderFactory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9512" y="1114291"/>
            <a:ext cx="8758808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DbProviderFactories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– класс представляет набор статических методов для создания одного или нескольких экземпляров классов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DbProviderFactory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Методы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01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Создание фабрики. Класс </a:t>
            </a:r>
            <a:r>
              <a:rPr lang="ru-RU" dirty="0" err="1"/>
              <a:t>DbProviderFactories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68</a:t>
            </a:fld>
            <a:endParaRPr lang="en-US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774961"/>
              </p:ext>
            </p:extLst>
          </p:nvPr>
        </p:nvGraphicFramePr>
        <p:xfrm>
          <a:off x="89756" y="1778553"/>
          <a:ext cx="8964488" cy="48245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Имя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CreateCommand()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DbCommand</a:t>
                      </a: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CreateCommandBuilder()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DbCommandBuilder</a:t>
                      </a: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 dirty="0" err="1">
                          <a:solidFill>
                            <a:schemeClr val="tx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CreateConnection</a:t>
                      </a:r>
                      <a:r>
                        <a:rPr lang="ru-RU" sz="1800" u="sng" dirty="0">
                          <a:solidFill>
                            <a:schemeClr val="tx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 dirty="0" err="1">
                          <a:solidFill>
                            <a:schemeClr val="tx1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DbConnection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CreateConnectionStringBuilder()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DbConnectionStringBuilder</a:t>
                      </a: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CreateDataAdapter()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 dirty="0" err="1">
                          <a:solidFill>
                            <a:schemeClr val="tx1"/>
                          </a:solidFill>
                          <a:effectLst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DbDataAdapter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 dirty="0" err="1">
                          <a:solidFill>
                            <a:schemeClr val="tx1"/>
                          </a:solidFill>
                          <a:effectLst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CreateDataSourceEnumerator</a:t>
                      </a:r>
                      <a:r>
                        <a:rPr lang="ru-RU" sz="1800" u="sng" dirty="0">
                          <a:solidFill>
                            <a:schemeClr val="tx1"/>
                          </a:solidFill>
                          <a:effectLst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DbDataSourceEnumerator</a:t>
                      </a: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2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u="sng">
                          <a:solidFill>
                            <a:schemeClr val="tx1"/>
                          </a:solidFill>
                          <a:effectLst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CreateParameter()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Возвращает новый экземпляра класса поставщика, реализующий класс </a:t>
                      </a:r>
                      <a:r>
                        <a:rPr lang="ru-RU" sz="1800" u="sng" dirty="0" err="1">
                          <a:solidFill>
                            <a:schemeClr val="tx1"/>
                          </a:solidFill>
                          <a:effectLst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DbParameter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51520" y="671304"/>
            <a:ext cx="828092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DbProviderFactory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– класс содержит  набор методов для создания экземпляров классов поставщиков, реализующих источник данных.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Некоторые методы</a:t>
            </a:r>
            <a:endParaRPr kumimoji="0" lang="ru-RU" altLang="ru-RU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347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Использование фабрики (</a:t>
            </a:r>
            <a:r>
              <a:rPr lang="en-US" dirty="0"/>
              <a:t>factory)</a:t>
            </a:r>
            <a:r>
              <a:rPr lang="ru-RU" dirty="0"/>
              <a:t>. Пример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548680"/>
            <a:ext cx="9036496" cy="5904656"/>
          </a:xfrm>
          <a:solidFill>
            <a:schemeClr val="bg1">
              <a:lumMod val="95000"/>
            </a:schemeClr>
          </a:solidFill>
        </p:spPr>
        <p:txBody>
          <a:bodyPr numCol="1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DbProviderFactory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factory = </a:t>
            </a:r>
            <a:r>
              <a:rPr lang="en-US" sz="14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DbProviderFactories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.GetFactory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System.Data.SqlClient</a:t>
            </a:r>
            <a:r>
              <a:rPr lang="en-US" sz="14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);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connection =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factory.CreateConnection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();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connection.ConnectionString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connectionString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;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(connection != </a:t>
            </a:r>
            <a:r>
              <a:rPr lang="en-US" sz="14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{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(connection)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{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try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{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en-US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Открыть соединение</a:t>
            </a:r>
            <a:r>
              <a:rPr lang="en-US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connection.Open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(); 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en-US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Создать и выполнить</a:t>
            </a:r>
            <a:r>
              <a:rPr lang="en-US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DbCommand</a:t>
            </a:r>
            <a:r>
              <a:rPr lang="en-US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en-US" sz="14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DbCommand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command =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connection.CreateCommand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();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command.CommandText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=</a:t>
            </a:r>
            <a:r>
              <a:rPr lang="en-US" sz="14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"INSERT INTO Categories (</a:t>
            </a:r>
            <a:r>
              <a:rPr lang="en-US" sz="14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CategoryName</a:t>
            </a:r>
            <a:r>
              <a:rPr lang="en-US" sz="14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 VALUES ('Low Carb')"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;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    </a:t>
            </a:r>
            <a:r>
              <a:rPr lang="ru-RU" sz="1400" dirty="0" err="1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rows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= </a:t>
            </a:r>
            <a:r>
              <a:rPr lang="ru-RU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command.ExecuteNonQuery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(); 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	   }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</a:t>
            </a:r>
            <a:r>
              <a:rPr lang="ru-RU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// Обработка ошибок, связанных с данными.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catch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</a:t>
            </a:r>
            <a:r>
              <a:rPr lang="en-US" sz="14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</a:t>
            </a: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{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}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</a:t>
            </a:r>
            <a:r>
              <a:rPr lang="ru-RU" sz="14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// Обработка других ошибок.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</a:t>
            </a:r>
            <a:r>
              <a:rPr lang="ru-RU" sz="1400" dirty="0" err="1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catch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</a:t>
            </a:r>
            <a:r>
              <a:rPr lang="ru-RU" sz="14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Exception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</a:t>
            </a: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</a:t>
            </a:r>
            <a:endParaRPr lang="ru-RU" sz="14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    {}</a:t>
            </a:r>
            <a:endParaRPr lang="ru-RU" sz="1400" dirty="0">
              <a:effectLst/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36134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Использование фабрики (</a:t>
            </a:r>
            <a:r>
              <a:rPr lang="en-US" dirty="0"/>
              <a:t>factory)</a:t>
            </a:r>
            <a:r>
              <a:rPr lang="ru-RU" dirty="0"/>
              <a:t>. Пример обработки ошибок.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340768"/>
            <a:ext cx="9036496" cy="5112568"/>
          </a:xfrm>
          <a:solidFill>
            <a:schemeClr val="bg1">
              <a:lumMod val="95000"/>
            </a:schemeClr>
          </a:solidFill>
        </p:spPr>
        <p:txBody>
          <a:bodyPr numCol="1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ru-RU" sz="16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// Обработка ошибок, связанных с данными.</a:t>
            </a: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</a:t>
            </a:r>
            <a:r>
              <a:rPr lang="en-US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{                        </a:t>
            </a:r>
            <a:endParaRPr lang="ru-RU" sz="1600" dirty="0">
              <a:solidFill>
                <a:srgbClr val="000000"/>
              </a:solidFill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.WriteLine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DbException.GetType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: {0}"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exDb.GetType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());                        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.WriteLine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DbException.Source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: {0}"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exDb.Source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);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</a:t>
            </a:r>
            <a:r>
              <a:rPr lang="en-US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.WriteLine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DbException.ErrorCode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: {0}"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exDb.ErrorCode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);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</a:t>
            </a:r>
            <a:r>
              <a:rPr lang="en-US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.WriteLine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DbException.Message</a:t>
            </a:r>
            <a:r>
              <a:rPr lang="en-US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: {0}"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exDb.Message</a:t>
            </a: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);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}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rgbClr val="008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// Обработка других ошибок.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0000F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catch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(</a:t>
            </a:r>
            <a:r>
              <a:rPr lang="ru-RU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Exception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{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</a:t>
            </a:r>
            <a:r>
              <a:rPr lang="ru-RU" sz="1600" dirty="0" err="1">
                <a:solidFill>
                  <a:srgbClr val="2B91AF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Console</a:t>
            </a:r>
            <a:r>
              <a:rPr lang="ru-RU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.WriteLine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(</a:t>
            </a:r>
            <a:r>
              <a:rPr lang="ru-RU" sz="1600" dirty="0">
                <a:solidFill>
                  <a:srgbClr val="A31515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"Сообщение об исключении: {0}"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, </a:t>
            </a:r>
            <a:r>
              <a:rPr lang="ru-RU" sz="1600" dirty="0" err="1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ex.Message</a:t>
            </a: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);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600" dirty="0">
                <a:solidFill>
                  <a:srgbClr val="000000"/>
                </a:solidFill>
                <a:latin typeface="Arial Black" panose="020B0A04020102020204" pitchFamily="34" charset="0"/>
                <a:ea typeface="Calibri"/>
                <a:cs typeface="Times New Roman"/>
              </a:rPr>
              <a:t>                }</a:t>
            </a:r>
            <a:endParaRPr lang="ru-RU" sz="1600" dirty="0"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0050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12460"/>
            <a:ext cx="8686800" cy="715962"/>
          </a:xfrm>
        </p:spPr>
        <p:txBody>
          <a:bodyPr/>
          <a:lstStyle/>
          <a:p>
            <a:r>
              <a:rPr lang="ru-RU" dirty="0"/>
              <a:t>Реализация типовых операций</a:t>
            </a:r>
            <a:br>
              <a:rPr lang="en-US" dirty="0"/>
            </a:b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13D82-3B92-4BC6-A819-A7803D760D40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764704"/>
            <a:ext cx="9036496" cy="548369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lvl="0"/>
            <a:r>
              <a:rPr lang="ru-RU" sz="1800" b="1" dirty="0"/>
              <a:t>Создание </a:t>
            </a:r>
            <a:r>
              <a:rPr lang="ru-RU" sz="1800" b="1" dirty="0" err="1"/>
              <a:t>DbProviderFactory</a:t>
            </a:r>
            <a:r>
              <a:rPr lang="ru-RU" sz="1800" b="1" dirty="0"/>
              <a:t> и </a:t>
            </a:r>
            <a:r>
              <a:rPr lang="ru-RU" sz="1800" b="1" dirty="0" err="1"/>
              <a:t>DbConnection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Создание фабрики </a:t>
            </a:r>
            <a:r>
              <a:rPr lang="ru-RU" sz="1800" dirty="0" err="1"/>
              <a:t>DbProviderFactory</a:t>
            </a:r>
            <a:r>
              <a:rPr lang="ru-RU" sz="1800" dirty="0"/>
              <a:t> и соединения </a:t>
            </a:r>
            <a:r>
              <a:rPr lang="ru-RU" sz="1800" dirty="0" err="1"/>
              <a:t>DbConnection</a:t>
            </a:r>
            <a:r>
              <a:rPr lang="ru-RU" sz="1800" dirty="0"/>
              <a:t> путем передачи имени поставщика в формате «</a:t>
            </a:r>
            <a:r>
              <a:rPr lang="ru-RU" sz="1800" dirty="0" err="1"/>
              <a:t>System.Data.ProviderName</a:t>
            </a:r>
            <a:r>
              <a:rPr lang="ru-RU" sz="1800" dirty="0"/>
              <a:t>» и строки соединения. </a:t>
            </a:r>
          </a:p>
          <a:p>
            <a:pPr lvl="0"/>
            <a:r>
              <a:rPr lang="ru-RU" sz="1800" b="1" dirty="0"/>
              <a:t>Выборка данных с использованием объекта </a:t>
            </a:r>
            <a:r>
              <a:rPr lang="en-US" sz="1800" b="1" dirty="0" err="1"/>
              <a:t>DbCommand</a:t>
            </a:r>
            <a:r>
              <a:rPr lang="en-US" sz="1800" b="1" dirty="0"/>
              <a:t> 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Объект </a:t>
            </a:r>
            <a:r>
              <a:rPr lang="en-US" sz="1800" dirty="0" err="1"/>
              <a:t>DbCommand</a:t>
            </a:r>
            <a:r>
              <a:rPr lang="ru-RU" sz="1800" dirty="0"/>
              <a:t> создается для выбора данных из таблицы </a:t>
            </a:r>
            <a:r>
              <a:rPr lang="en-US" sz="1800" dirty="0"/>
              <a:t>Categories</a:t>
            </a:r>
            <a:r>
              <a:rPr lang="ru-RU" sz="1800" dirty="0"/>
              <a:t> путем задания </a:t>
            </a:r>
            <a:r>
              <a:rPr lang="en-US" sz="1800" dirty="0" err="1"/>
              <a:t>CommandText</a:t>
            </a:r>
            <a:r>
              <a:rPr lang="ru-RU" sz="1800" dirty="0"/>
              <a:t> инструкции </a:t>
            </a:r>
            <a:r>
              <a:rPr lang="en-US" sz="1800" dirty="0"/>
              <a:t>SQL SELECT</a:t>
            </a:r>
            <a:r>
              <a:rPr lang="ru-RU" sz="1800" dirty="0"/>
              <a:t>. Предполагается, что в источнике данных существует таблица </a:t>
            </a:r>
            <a:r>
              <a:rPr lang="en-US" sz="1800" dirty="0"/>
              <a:t>Categories</a:t>
            </a:r>
            <a:r>
              <a:rPr lang="ru-RU" sz="1800" dirty="0"/>
              <a:t>. Открывается соединение, и данные получаются при помощи объекта </a:t>
            </a:r>
            <a:r>
              <a:rPr lang="en-US" sz="1800" dirty="0" err="1"/>
              <a:t>DbDataReader</a:t>
            </a:r>
            <a:r>
              <a:rPr lang="ru-RU" sz="1800" dirty="0"/>
              <a:t>.</a:t>
            </a:r>
          </a:p>
          <a:p>
            <a:pPr lvl="0"/>
            <a:r>
              <a:rPr lang="ru-RU" sz="1800" b="1" dirty="0"/>
              <a:t>Выполнения команды с использованием </a:t>
            </a:r>
            <a:r>
              <a:rPr lang="en-US" sz="1800" b="1" dirty="0" err="1"/>
              <a:t>DbCommand</a:t>
            </a:r>
            <a:r>
              <a:rPr lang="en-US" sz="1800" b="1" dirty="0"/>
              <a:t> </a:t>
            </a:r>
            <a:endParaRPr lang="ru-RU" sz="1800" b="1" dirty="0"/>
          </a:p>
          <a:p>
            <a:pPr lvl="0"/>
            <a:r>
              <a:rPr lang="ru-RU" sz="1800" b="1" dirty="0"/>
              <a:t>Выборка данных с помощью объекта </a:t>
            </a:r>
            <a:r>
              <a:rPr lang="ru-RU" sz="1800" b="1" dirty="0" err="1"/>
              <a:t>DbDataAdapter</a:t>
            </a:r>
            <a:endParaRPr lang="ru-RU" sz="1800" b="1" dirty="0"/>
          </a:p>
          <a:p>
            <a:pPr lvl="0"/>
            <a:r>
              <a:rPr lang="ru-RU" sz="1800" b="1" dirty="0"/>
              <a:t>Изменение данных с помощью </a:t>
            </a:r>
            <a:r>
              <a:rPr lang="ru-RU" sz="1800" b="1" dirty="0" err="1"/>
              <a:t>DbDataAdapter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Модификация данных в </a:t>
            </a:r>
            <a:r>
              <a:rPr lang="ru-RU" sz="1800" dirty="0" err="1"/>
              <a:t>DataTable</a:t>
            </a:r>
            <a:r>
              <a:rPr lang="ru-RU" sz="1800" dirty="0"/>
              <a:t> с использованием </a:t>
            </a:r>
            <a:r>
              <a:rPr lang="ru-RU" sz="1800" dirty="0" err="1"/>
              <a:t>DbDataAdapter</a:t>
            </a:r>
            <a:r>
              <a:rPr lang="ru-RU" sz="1800" dirty="0"/>
              <a:t>, в котором применяется объект </a:t>
            </a:r>
            <a:r>
              <a:rPr lang="ru-RU" sz="1800" dirty="0" err="1"/>
              <a:t>DbCommandBuilder</a:t>
            </a:r>
            <a:r>
              <a:rPr lang="ru-RU" sz="1800" dirty="0"/>
              <a:t> для формирования команд, необходимых для обновления данных в источнике данных.</a:t>
            </a:r>
          </a:p>
          <a:p>
            <a:pPr marL="0" indent="0">
              <a:buNone/>
            </a:pPr>
            <a:r>
              <a:rPr lang="ru-RU" sz="1800" dirty="0"/>
              <a:t>Коды</a:t>
            </a:r>
          </a:p>
          <a:p>
            <a:pPr marL="0" indent="0">
              <a:buNone/>
            </a:pPr>
            <a:r>
              <a:rPr lang="ru-RU" sz="1800" dirty="0"/>
              <a:t> </a:t>
            </a:r>
            <a:r>
              <a:rPr lang="en-US" sz="2800" dirty="0">
                <a:hlinkClick r:id="rId2"/>
              </a:rPr>
              <a:t>https://github.com/Olgasn/UsingDbProviderFactory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36342693"/>
      </p:ext>
    </p:extLst>
  </p:cSld>
  <p:clrMapOvr>
    <a:masterClrMapping/>
  </p:clrMapOvr>
</p:sld>
</file>

<file path=ppt/theme/theme1.xml><?xml version="1.0" encoding="utf-8"?>
<a:theme xmlns:a="http://schemas.openxmlformats.org/drawingml/2006/main" name="РПБДИС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1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РПБДИС</Template>
  <TotalTime>2302</TotalTime>
  <Words>6253</Words>
  <Application>Microsoft Office PowerPoint</Application>
  <PresentationFormat>Экран (4:3)</PresentationFormat>
  <Paragraphs>903</Paragraphs>
  <Slides>71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71</vt:i4>
      </vt:variant>
    </vt:vector>
  </HeadingPairs>
  <TitlesOfParts>
    <vt:vector size="85" baseType="lpstr">
      <vt:lpstr>Arial</vt:lpstr>
      <vt:lpstr>Arial Black</vt:lpstr>
      <vt:lpstr>Calibri</vt:lpstr>
      <vt:lpstr>Consolas</vt:lpstr>
      <vt:lpstr>Courier New</vt:lpstr>
      <vt:lpstr>Helvetica LT Std</vt:lpstr>
      <vt:lpstr>HelveticaLTStd-Roman</vt:lpstr>
      <vt:lpstr>Myriad Pro</vt:lpstr>
      <vt:lpstr>Tahoma</vt:lpstr>
      <vt:lpstr>Times New Roman</vt:lpstr>
      <vt:lpstr>Verdana</vt:lpstr>
      <vt:lpstr>Wingdings</vt:lpstr>
      <vt:lpstr>РПБДИС</vt:lpstr>
      <vt:lpstr>Тема1</vt:lpstr>
      <vt:lpstr> Технологии доступа к данным. ADO .NET </vt:lpstr>
      <vt:lpstr>Работа с внешними источниками данных </vt:lpstr>
      <vt:lpstr>Механизм доступа к внешнему источнику данных </vt:lpstr>
      <vt:lpstr>ПО доступа к данным </vt:lpstr>
      <vt:lpstr>Технологии доступа к внешним источникам данных</vt:lpstr>
      <vt:lpstr>ADO.NET</vt:lpstr>
      <vt:lpstr>Фундаментальные классы ADO.NET</vt:lpstr>
      <vt:lpstr>Фундаментальные классы ADO.NET</vt:lpstr>
      <vt:lpstr>Архитектура ADO.NET</vt:lpstr>
      <vt:lpstr>Модель поставщиков</vt:lpstr>
      <vt:lpstr>Основные объекты поставщиков данных ADO.NET</vt:lpstr>
      <vt:lpstr>Поставщики - структура</vt:lpstr>
      <vt:lpstr>Поставщики - структура</vt:lpstr>
      <vt:lpstr>Connection. Соединение с БД в ADO.NET</vt:lpstr>
      <vt:lpstr>Connection. Хранение строк соединения. </vt:lpstr>
      <vt:lpstr>Connection. Соединение с БД в ADO.NET</vt:lpstr>
      <vt:lpstr>Connection. Соединение с БД в ADO.NET</vt:lpstr>
      <vt:lpstr>Connection. Обработка ошибок соединения</vt:lpstr>
      <vt:lpstr>Класс Command</vt:lpstr>
      <vt:lpstr>Класс Command. Возможные значения перечисления CommandType</vt:lpstr>
      <vt:lpstr>Класс Command</vt:lpstr>
      <vt:lpstr>Класс Command. ExecuteNonQuery</vt:lpstr>
      <vt:lpstr>Класс Command. ExecuteScalar</vt:lpstr>
      <vt:lpstr>Класс Command. ExecuteReader</vt:lpstr>
      <vt:lpstr>Класс Command. Параметризированные запросы.</vt:lpstr>
      <vt:lpstr>Класс Command. Параметризированные запросы.</vt:lpstr>
      <vt:lpstr>Класс Command. Параметризованная  команда.</vt:lpstr>
      <vt:lpstr>Класс Command. Parameters.</vt:lpstr>
      <vt:lpstr>Хранимые процедуры в ADO.NET</vt:lpstr>
      <vt:lpstr>Хранимые процедуры в ADO.NET</vt:lpstr>
      <vt:lpstr>Хранимые процедуры в ADO.NET</vt:lpstr>
      <vt:lpstr>Хранимые процедуры в ADO.NET. Выходной параметр.</vt:lpstr>
      <vt:lpstr>Хранимые процедуры в ADO.NET. Выходной параметр.</vt:lpstr>
      <vt:lpstr>Класс DataReader.</vt:lpstr>
      <vt:lpstr>Класс DataReader. Методы.</vt:lpstr>
      <vt:lpstr>Класс DataReader. Методы.</vt:lpstr>
      <vt:lpstr>Транзакции</vt:lpstr>
      <vt:lpstr>Транзакции. Пример</vt:lpstr>
      <vt:lpstr>Транзакции. Пример</vt:lpstr>
      <vt:lpstr>Транзакции. Пример</vt:lpstr>
      <vt:lpstr>Отсоединенные наборы данных в ADO.NET</vt:lpstr>
      <vt:lpstr>DataSet – средство локального хранения</vt:lpstr>
      <vt:lpstr>Некоторые методы DataSet</vt:lpstr>
      <vt:lpstr>Способы работы с DataSet</vt:lpstr>
      <vt:lpstr>Адаптеры данных </vt:lpstr>
      <vt:lpstr>DataAdapter. Свойства и методы. </vt:lpstr>
      <vt:lpstr>Наполнение DataSet данными из существующей базы данных</vt:lpstr>
      <vt:lpstr>Манипуляции со строками. DataTables.DataRow</vt:lpstr>
      <vt:lpstr>Схема совместной работы объектов ADO .NET </vt:lpstr>
      <vt:lpstr>Основные этапы работы с внешними данными через отсоединенный набор ADO.NET</vt:lpstr>
      <vt:lpstr>Пример. Схема базы данных.</vt:lpstr>
      <vt:lpstr>Пример. Инициализация.</vt:lpstr>
      <vt:lpstr>Пример. Инициализация.</vt:lpstr>
      <vt:lpstr>Пример. Выполнение Command</vt:lpstr>
      <vt:lpstr>Пример. Выполнение Command</vt:lpstr>
      <vt:lpstr>Пример. Выполнение Command.</vt:lpstr>
      <vt:lpstr>Пример. Наполнение DataSet и визуализация</vt:lpstr>
      <vt:lpstr>Пример. Наполнение DataSet</vt:lpstr>
      <vt:lpstr>Пример. Визуализация с использованием табличного элемента DataGrid</vt:lpstr>
      <vt:lpstr>Пример. Изменение и сохранение.</vt:lpstr>
      <vt:lpstr>Пример. Сохранение изменённых данных.</vt:lpstr>
      <vt:lpstr>Пример. Удаление данных с использованием DataAdapter.</vt:lpstr>
      <vt:lpstr>Архитектура ADO.NET. Паттерн «Абстрактная фабрика». </vt:lpstr>
      <vt:lpstr>Паттерн «Абстрактная фабрика». </vt:lpstr>
      <vt:lpstr>Архитектура ADO.NET. Реализация паттерна абстрактная фабрика</vt:lpstr>
      <vt:lpstr>Создание фабрики (factory). Класс DbProviderFactories </vt:lpstr>
      <vt:lpstr>Создание фабрики (factory). Класс DbProviderFactories </vt:lpstr>
      <vt:lpstr>Создание фабрики. Класс DbProviderFactories </vt:lpstr>
      <vt:lpstr>Использование фабрики (factory). Пример </vt:lpstr>
      <vt:lpstr>Использование фабрики (factory). Пример обработки ошибок. </vt:lpstr>
      <vt:lpstr>Реализация типовых операций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olas</dc:creator>
  <cp:lastModifiedBy>teacher</cp:lastModifiedBy>
  <cp:revision>401</cp:revision>
  <dcterms:modified xsi:type="dcterms:W3CDTF">2026-05-04T07:48:20Z</dcterms:modified>
</cp:coreProperties>
</file>